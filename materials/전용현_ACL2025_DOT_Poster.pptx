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6"/>
  </p:notesMasterIdLst>
  <p:sldIdLst>
    <p:sldId id="259" r:id="rId5"/>
  </p:sldIdLst>
  <p:sldSz cx="30279975" cy="42808525"/>
  <p:notesSz cx="6797675" cy="9926638"/>
  <p:embeddedFontLst>
    <p:embeddedFont>
      <p:font typeface="Helvetica" panose="020B0604020202020204" charset="0"/>
      <p:regular r:id="rId7"/>
      <p:bold r:id="rId8"/>
      <p:italic r:id="rId9"/>
      <p:boldItalic r:id="rId10"/>
    </p:embeddedFont>
    <p:embeddedFont>
      <p:font typeface="맑은 고딕" panose="020B0503020000020004" pitchFamily="50" charset="-127"/>
      <p:regular r:id="rId11"/>
      <p:bold r:id="rId12"/>
    </p:embeddedFont>
  </p:embeddedFontLst>
  <p:defaultTextStyle>
    <a:defPPr>
      <a:defRPr lang="ko-KR"/>
    </a:defPPr>
    <a:lvl1pPr marL="0" algn="l" defTabSz="4176421" rtl="0" eaLnBrk="1" latinLnBrk="1" hangingPunct="1">
      <a:defRPr sz="8200" kern="1200">
        <a:solidFill>
          <a:schemeClr val="tx1"/>
        </a:solidFill>
        <a:latin typeface="+mn-lt"/>
        <a:ea typeface="+mn-ea"/>
        <a:cs typeface="+mn-cs"/>
      </a:defRPr>
    </a:lvl1pPr>
    <a:lvl2pPr marL="2088211" algn="l" defTabSz="4176421" rtl="0" eaLnBrk="1" latinLnBrk="1" hangingPunct="1">
      <a:defRPr sz="8200" kern="1200">
        <a:solidFill>
          <a:schemeClr val="tx1"/>
        </a:solidFill>
        <a:latin typeface="+mn-lt"/>
        <a:ea typeface="+mn-ea"/>
        <a:cs typeface="+mn-cs"/>
      </a:defRPr>
    </a:lvl2pPr>
    <a:lvl3pPr marL="4176421" algn="l" defTabSz="4176421" rtl="0" eaLnBrk="1" latinLnBrk="1" hangingPunct="1">
      <a:defRPr sz="8200" kern="1200">
        <a:solidFill>
          <a:schemeClr val="tx1"/>
        </a:solidFill>
        <a:latin typeface="+mn-lt"/>
        <a:ea typeface="+mn-ea"/>
        <a:cs typeface="+mn-cs"/>
      </a:defRPr>
    </a:lvl3pPr>
    <a:lvl4pPr marL="6264632" algn="l" defTabSz="4176421" rtl="0" eaLnBrk="1" latinLnBrk="1" hangingPunct="1">
      <a:defRPr sz="8200" kern="1200">
        <a:solidFill>
          <a:schemeClr val="tx1"/>
        </a:solidFill>
        <a:latin typeface="+mn-lt"/>
        <a:ea typeface="+mn-ea"/>
        <a:cs typeface="+mn-cs"/>
      </a:defRPr>
    </a:lvl4pPr>
    <a:lvl5pPr marL="8352842" algn="l" defTabSz="4176421" rtl="0" eaLnBrk="1" latinLnBrk="1" hangingPunct="1">
      <a:defRPr sz="8200" kern="1200">
        <a:solidFill>
          <a:schemeClr val="tx1"/>
        </a:solidFill>
        <a:latin typeface="+mn-lt"/>
        <a:ea typeface="+mn-ea"/>
        <a:cs typeface="+mn-cs"/>
      </a:defRPr>
    </a:lvl5pPr>
    <a:lvl6pPr marL="10441054" algn="l" defTabSz="4176421" rtl="0" eaLnBrk="1" latinLnBrk="1" hangingPunct="1">
      <a:defRPr sz="8200" kern="1200">
        <a:solidFill>
          <a:schemeClr val="tx1"/>
        </a:solidFill>
        <a:latin typeface="+mn-lt"/>
        <a:ea typeface="+mn-ea"/>
        <a:cs typeface="+mn-cs"/>
      </a:defRPr>
    </a:lvl6pPr>
    <a:lvl7pPr marL="12529264" algn="l" defTabSz="4176421" rtl="0" eaLnBrk="1" latinLnBrk="1" hangingPunct="1">
      <a:defRPr sz="8200" kern="1200">
        <a:solidFill>
          <a:schemeClr val="tx1"/>
        </a:solidFill>
        <a:latin typeface="+mn-lt"/>
        <a:ea typeface="+mn-ea"/>
        <a:cs typeface="+mn-cs"/>
      </a:defRPr>
    </a:lvl7pPr>
    <a:lvl8pPr marL="14617475" algn="l" defTabSz="4176421" rtl="0" eaLnBrk="1" latinLnBrk="1" hangingPunct="1">
      <a:defRPr sz="8200" kern="1200">
        <a:solidFill>
          <a:schemeClr val="tx1"/>
        </a:solidFill>
        <a:latin typeface="+mn-lt"/>
        <a:ea typeface="+mn-ea"/>
        <a:cs typeface="+mn-cs"/>
      </a:defRPr>
    </a:lvl8pPr>
    <a:lvl9pPr marL="16705685" algn="l" defTabSz="4176421" rtl="0" eaLnBrk="1" latinLnBrk="1" hangingPunct="1">
      <a:defRPr sz="82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81" userDrawn="1">
          <p15:clr>
            <a:srgbClr val="A4A3A4"/>
          </p15:clr>
        </p15:guide>
        <p15:guide id="2" orient="horz" pos="22986" userDrawn="1">
          <p15:clr>
            <a:srgbClr val="A4A3A4"/>
          </p15:clr>
        </p15:guide>
        <p15:guide id="3" pos="465" userDrawn="1">
          <p15:clr>
            <a:srgbClr val="A4A3A4"/>
          </p15:clr>
        </p15:guide>
        <p15:guide id="4" pos="899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9966FF"/>
    <a:srgbClr val="51A7F9"/>
    <a:srgbClr val="33CCCC"/>
    <a:srgbClr val="5EA9DD"/>
    <a:srgbClr val="E5F3F7"/>
    <a:srgbClr val="FF33CC"/>
    <a:srgbClr val="FF5050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 autoAdjust="0"/>
    <p:restoredTop sz="96197" autoAdjust="0"/>
  </p:normalViewPr>
  <p:slideViewPr>
    <p:cSldViewPr showGuides="1">
      <p:cViewPr>
        <p:scale>
          <a:sx n="33" d="100"/>
          <a:sy n="33" d="100"/>
        </p:scale>
        <p:origin x="1656" y="16"/>
      </p:cViewPr>
      <p:guideLst>
        <p:guide orient="horz" pos="3481"/>
        <p:guide orient="horz" pos="22986"/>
        <p:guide pos="465"/>
        <p:guide pos="8993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font" Target="fonts/font4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A4865D-DAE6-4D8A-BD4B-B6469E961D76}" type="datetimeFigureOut">
              <a:rPr lang="ko-KR" altLang="en-US" smtClean="0"/>
              <a:pPr/>
              <a:t>2025-07-22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01C65-E9E9-4671-876F-6ECEBFA5F0D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22428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28094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64047" algn="l" defTabSz="928094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28094" algn="l" defTabSz="928094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92140" algn="l" defTabSz="928094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56187" algn="l" defTabSz="928094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320234" algn="l" defTabSz="928094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84281" algn="l" defTabSz="928094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248328" algn="l" defTabSz="928094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712374" algn="l" defTabSz="928094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01C65-E9E9-4671-876F-6ECEBFA5F0D0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11970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70998" y="13298392"/>
            <a:ext cx="25737979" cy="917608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4541996" y="24258165"/>
            <a:ext cx="21195983" cy="1093995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0882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1764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2646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352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4410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5292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46174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6705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5F4-CEB9-4F13-BC91-A7D2275753A4}" type="datetimeFigureOut">
              <a:rPr lang="ko-KR" altLang="en-US" smtClean="0"/>
              <a:pPr/>
              <a:t>2025-07-22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5F4-CEB9-4F13-BC91-A7D2275753A4}" type="datetimeFigureOut">
              <a:rPr lang="ko-KR" altLang="en-US" smtClean="0"/>
              <a:pPr/>
              <a:t>2025-07-22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91909" y="27508445"/>
            <a:ext cx="25737979" cy="8502249"/>
          </a:xfrm>
        </p:spPr>
        <p:txBody>
          <a:bodyPr anchor="t"/>
          <a:lstStyle>
            <a:lvl1pPr algn="l">
              <a:defRPr sz="182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2391909" y="18144083"/>
            <a:ext cx="25737979" cy="9364361"/>
          </a:xfrm>
        </p:spPr>
        <p:txBody>
          <a:bodyPr anchor="b"/>
          <a:lstStyle>
            <a:lvl1pPr marL="0" indent="0">
              <a:buNone/>
              <a:defRPr sz="9200">
                <a:solidFill>
                  <a:schemeClr val="tx1">
                    <a:tint val="75000"/>
                  </a:schemeClr>
                </a:solidFill>
              </a:defRPr>
            </a:lvl1pPr>
            <a:lvl2pPr marL="2088211" indent="0">
              <a:buNone/>
              <a:defRPr sz="8200">
                <a:solidFill>
                  <a:schemeClr val="tx1">
                    <a:tint val="75000"/>
                  </a:schemeClr>
                </a:solidFill>
              </a:defRPr>
            </a:lvl2pPr>
            <a:lvl3pPr marL="4176421" indent="0">
              <a:buNone/>
              <a:defRPr sz="7400">
                <a:solidFill>
                  <a:schemeClr val="tx1">
                    <a:tint val="75000"/>
                  </a:schemeClr>
                </a:solidFill>
              </a:defRPr>
            </a:lvl3pPr>
            <a:lvl4pPr marL="6264632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4pPr>
            <a:lvl5pPr marL="8352842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5pPr>
            <a:lvl6pPr marL="10441054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6pPr>
            <a:lvl7pPr marL="12529264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7pPr>
            <a:lvl8pPr marL="14617475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8pPr>
            <a:lvl9pPr marL="16705685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5F4-CEB9-4F13-BC91-A7D2275753A4}" type="datetimeFigureOut">
              <a:rPr lang="ko-KR" altLang="en-US" smtClean="0"/>
              <a:pPr/>
              <a:t>2025-07-22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513999" y="9988658"/>
            <a:ext cx="13373655" cy="28251648"/>
          </a:xfrm>
        </p:spPr>
        <p:txBody>
          <a:bodyPr/>
          <a:lstStyle>
            <a:lvl1pPr>
              <a:defRPr sz="12700"/>
            </a:lvl1pPr>
            <a:lvl2pPr>
              <a:defRPr sz="10900"/>
            </a:lvl2pPr>
            <a:lvl3pPr>
              <a:defRPr sz="92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5392321" y="9988658"/>
            <a:ext cx="13373655" cy="28251648"/>
          </a:xfrm>
        </p:spPr>
        <p:txBody>
          <a:bodyPr/>
          <a:lstStyle>
            <a:lvl1pPr>
              <a:defRPr sz="12700"/>
            </a:lvl1pPr>
            <a:lvl2pPr>
              <a:defRPr sz="10900"/>
            </a:lvl2pPr>
            <a:lvl3pPr>
              <a:defRPr sz="9200"/>
            </a:lvl3pPr>
            <a:lvl4pPr>
              <a:defRPr sz="8200"/>
            </a:lvl4pPr>
            <a:lvl5pPr>
              <a:defRPr sz="8200"/>
            </a:lvl5pPr>
            <a:lvl6pPr>
              <a:defRPr sz="8200"/>
            </a:lvl6pPr>
            <a:lvl7pPr>
              <a:defRPr sz="8200"/>
            </a:lvl7pPr>
            <a:lvl8pPr>
              <a:defRPr sz="8200"/>
            </a:lvl8pPr>
            <a:lvl9pPr>
              <a:defRPr sz="82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5F4-CEB9-4F13-BC91-A7D2275753A4}" type="datetimeFigureOut">
              <a:rPr lang="ko-KR" altLang="en-US" smtClean="0"/>
              <a:pPr/>
              <a:t>2025-07-22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4000" y="9582376"/>
            <a:ext cx="13378914" cy="3993477"/>
          </a:xfrm>
        </p:spPr>
        <p:txBody>
          <a:bodyPr anchor="b"/>
          <a:lstStyle>
            <a:lvl1pPr marL="0" indent="0">
              <a:buNone/>
              <a:defRPr sz="10900" b="1"/>
            </a:lvl1pPr>
            <a:lvl2pPr marL="2088211" indent="0">
              <a:buNone/>
              <a:defRPr sz="9200" b="1"/>
            </a:lvl2pPr>
            <a:lvl3pPr marL="4176421" indent="0">
              <a:buNone/>
              <a:defRPr sz="8200" b="1"/>
            </a:lvl3pPr>
            <a:lvl4pPr marL="6264632" indent="0">
              <a:buNone/>
              <a:defRPr sz="7400" b="1"/>
            </a:lvl4pPr>
            <a:lvl5pPr marL="8352842" indent="0">
              <a:buNone/>
              <a:defRPr sz="7400" b="1"/>
            </a:lvl5pPr>
            <a:lvl6pPr marL="10441054" indent="0">
              <a:buNone/>
              <a:defRPr sz="7400" b="1"/>
            </a:lvl6pPr>
            <a:lvl7pPr marL="12529264" indent="0">
              <a:buNone/>
              <a:defRPr sz="7400" b="1"/>
            </a:lvl7pPr>
            <a:lvl8pPr marL="14617475" indent="0">
              <a:buNone/>
              <a:defRPr sz="7400" b="1"/>
            </a:lvl8pPr>
            <a:lvl9pPr marL="16705685" indent="0">
              <a:buNone/>
              <a:defRPr sz="74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514000" y="13575853"/>
            <a:ext cx="13378914" cy="24664452"/>
          </a:xfrm>
        </p:spPr>
        <p:txBody>
          <a:bodyPr/>
          <a:lstStyle>
            <a:lvl1pPr>
              <a:defRPr sz="10900"/>
            </a:lvl1pPr>
            <a:lvl2pPr>
              <a:defRPr sz="9200"/>
            </a:lvl2pPr>
            <a:lvl3pPr>
              <a:defRPr sz="8200"/>
            </a:lvl3pPr>
            <a:lvl4pPr>
              <a:defRPr sz="7400"/>
            </a:lvl4pPr>
            <a:lvl5pPr>
              <a:defRPr sz="7400"/>
            </a:lvl5pPr>
            <a:lvl6pPr>
              <a:defRPr sz="7400"/>
            </a:lvl6pPr>
            <a:lvl7pPr>
              <a:defRPr sz="7400"/>
            </a:lvl7pPr>
            <a:lvl8pPr>
              <a:defRPr sz="7400"/>
            </a:lvl8pPr>
            <a:lvl9pPr>
              <a:defRPr sz="7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15381810" y="9582376"/>
            <a:ext cx="13384170" cy="3993477"/>
          </a:xfrm>
        </p:spPr>
        <p:txBody>
          <a:bodyPr anchor="b"/>
          <a:lstStyle>
            <a:lvl1pPr marL="0" indent="0">
              <a:buNone/>
              <a:defRPr sz="10900" b="1"/>
            </a:lvl1pPr>
            <a:lvl2pPr marL="2088211" indent="0">
              <a:buNone/>
              <a:defRPr sz="9200" b="1"/>
            </a:lvl2pPr>
            <a:lvl3pPr marL="4176421" indent="0">
              <a:buNone/>
              <a:defRPr sz="8200" b="1"/>
            </a:lvl3pPr>
            <a:lvl4pPr marL="6264632" indent="0">
              <a:buNone/>
              <a:defRPr sz="7400" b="1"/>
            </a:lvl4pPr>
            <a:lvl5pPr marL="8352842" indent="0">
              <a:buNone/>
              <a:defRPr sz="7400" b="1"/>
            </a:lvl5pPr>
            <a:lvl6pPr marL="10441054" indent="0">
              <a:buNone/>
              <a:defRPr sz="7400" b="1"/>
            </a:lvl6pPr>
            <a:lvl7pPr marL="12529264" indent="0">
              <a:buNone/>
              <a:defRPr sz="7400" b="1"/>
            </a:lvl7pPr>
            <a:lvl8pPr marL="14617475" indent="0">
              <a:buNone/>
              <a:defRPr sz="7400" b="1"/>
            </a:lvl8pPr>
            <a:lvl9pPr marL="16705685" indent="0">
              <a:buNone/>
              <a:defRPr sz="74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15381810" y="13575853"/>
            <a:ext cx="13384170" cy="24664452"/>
          </a:xfrm>
        </p:spPr>
        <p:txBody>
          <a:bodyPr/>
          <a:lstStyle>
            <a:lvl1pPr>
              <a:defRPr sz="10900"/>
            </a:lvl1pPr>
            <a:lvl2pPr>
              <a:defRPr sz="9200"/>
            </a:lvl2pPr>
            <a:lvl3pPr>
              <a:defRPr sz="8200"/>
            </a:lvl3pPr>
            <a:lvl4pPr>
              <a:defRPr sz="7400"/>
            </a:lvl4pPr>
            <a:lvl5pPr>
              <a:defRPr sz="7400"/>
            </a:lvl5pPr>
            <a:lvl6pPr>
              <a:defRPr sz="7400"/>
            </a:lvl6pPr>
            <a:lvl7pPr>
              <a:defRPr sz="7400"/>
            </a:lvl7pPr>
            <a:lvl8pPr>
              <a:defRPr sz="7400"/>
            </a:lvl8pPr>
            <a:lvl9pPr>
              <a:defRPr sz="7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5F4-CEB9-4F13-BC91-A7D2275753A4}" type="datetimeFigureOut">
              <a:rPr lang="ko-KR" altLang="en-US" smtClean="0"/>
              <a:pPr/>
              <a:t>2025-07-22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5F4-CEB9-4F13-BC91-A7D2275753A4}" type="datetimeFigureOut">
              <a:rPr lang="ko-KR" altLang="en-US" smtClean="0"/>
              <a:pPr/>
              <a:t>2025-07-22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5F4-CEB9-4F13-BC91-A7D2275753A4}" type="datetimeFigureOut">
              <a:rPr lang="ko-KR" altLang="en-US" smtClean="0"/>
              <a:pPr/>
              <a:t>2025-07-22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514000" y="1704414"/>
            <a:ext cx="9961903" cy="7253667"/>
          </a:xfrm>
        </p:spPr>
        <p:txBody>
          <a:bodyPr anchor="b"/>
          <a:lstStyle>
            <a:lvl1pPr algn="l">
              <a:defRPr sz="92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838630" y="1704416"/>
            <a:ext cx="16927347" cy="36535890"/>
          </a:xfrm>
        </p:spPr>
        <p:txBody>
          <a:bodyPr/>
          <a:lstStyle>
            <a:lvl1pPr>
              <a:defRPr sz="14600"/>
            </a:lvl1pPr>
            <a:lvl2pPr>
              <a:defRPr sz="12700"/>
            </a:lvl2pPr>
            <a:lvl3pPr>
              <a:defRPr sz="10900"/>
            </a:lvl3pPr>
            <a:lvl4pPr>
              <a:defRPr sz="9200"/>
            </a:lvl4pPr>
            <a:lvl5pPr>
              <a:defRPr sz="9200"/>
            </a:lvl5pPr>
            <a:lvl6pPr>
              <a:defRPr sz="9200"/>
            </a:lvl6pPr>
            <a:lvl7pPr>
              <a:defRPr sz="9200"/>
            </a:lvl7pPr>
            <a:lvl8pPr>
              <a:defRPr sz="9200"/>
            </a:lvl8pPr>
            <a:lvl9pPr>
              <a:defRPr sz="92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514000" y="8958084"/>
            <a:ext cx="9961903" cy="29282223"/>
          </a:xfrm>
        </p:spPr>
        <p:txBody>
          <a:bodyPr/>
          <a:lstStyle>
            <a:lvl1pPr marL="0" indent="0">
              <a:buNone/>
              <a:defRPr sz="6400"/>
            </a:lvl1pPr>
            <a:lvl2pPr marL="2088211" indent="0">
              <a:buNone/>
              <a:defRPr sz="5500"/>
            </a:lvl2pPr>
            <a:lvl3pPr marL="4176421" indent="0">
              <a:buNone/>
              <a:defRPr sz="4500"/>
            </a:lvl3pPr>
            <a:lvl4pPr marL="6264632" indent="0">
              <a:buNone/>
              <a:defRPr sz="4100"/>
            </a:lvl4pPr>
            <a:lvl5pPr marL="8352842" indent="0">
              <a:buNone/>
              <a:defRPr sz="4100"/>
            </a:lvl5pPr>
            <a:lvl6pPr marL="10441054" indent="0">
              <a:buNone/>
              <a:defRPr sz="4100"/>
            </a:lvl6pPr>
            <a:lvl7pPr marL="12529264" indent="0">
              <a:buNone/>
              <a:defRPr sz="4100"/>
            </a:lvl7pPr>
            <a:lvl8pPr marL="14617475" indent="0">
              <a:buNone/>
              <a:defRPr sz="4100"/>
            </a:lvl8pPr>
            <a:lvl9pPr marL="16705685" indent="0">
              <a:buNone/>
              <a:defRPr sz="4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5F4-CEB9-4F13-BC91-A7D2275753A4}" type="datetimeFigureOut">
              <a:rPr lang="ko-KR" altLang="en-US" smtClean="0"/>
              <a:pPr/>
              <a:t>2025-07-22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935088" y="29965967"/>
            <a:ext cx="18167985" cy="3537652"/>
          </a:xfrm>
        </p:spPr>
        <p:txBody>
          <a:bodyPr anchor="b"/>
          <a:lstStyle>
            <a:lvl1pPr algn="l">
              <a:defRPr sz="92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935088" y="3825022"/>
            <a:ext cx="18167985" cy="25685115"/>
          </a:xfrm>
        </p:spPr>
        <p:txBody>
          <a:bodyPr/>
          <a:lstStyle>
            <a:lvl1pPr marL="0" indent="0">
              <a:buNone/>
              <a:defRPr sz="14600"/>
            </a:lvl1pPr>
            <a:lvl2pPr marL="2088211" indent="0">
              <a:buNone/>
              <a:defRPr sz="12700"/>
            </a:lvl2pPr>
            <a:lvl3pPr marL="4176421" indent="0">
              <a:buNone/>
              <a:defRPr sz="10900"/>
            </a:lvl3pPr>
            <a:lvl4pPr marL="6264632" indent="0">
              <a:buNone/>
              <a:defRPr sz="9200"/>
            </a:lvl4pPr>
            <a:lvl5pPr marL="8352842" indent="0">
              <a:buNone/>
              <a:defRPr sz="9200"/>
            </a:lvl5pPr>
            <a:lvl6pPr marL="10441054" indent="0">
              <a:buNone/>
              <a:defRPr sz="9200"/>
            </a:lvl6pPr>
            <a:lvl7pPr marL="12529264" indent="0">
              <a:buNone/>
              <a:defRPr sz="9200"/>
            </a:lvl7pPr>
            <a:lvl8pPr marL="14617475" indent="0">
              <a:buNone/>
              <a:defRPr sz="9200"/>
            </a:lvl8pPr>
            <a:lvl9pPr marL="16705685" indent="0">
              <a:buNone/>
              <a:defRPr sz="92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5935088" y="33503620"/>
            <a:ext cx="18167985" cy="5024053"/>
          </a:xfrm>
        </p:spPr>
        <p:txBody>
          <a:bodyPr/>
          <a:lstStyle>
            <a:lvl1pPr marL="0" indent="0">
              <a:buNone/>
              <a:defRPr sz="6400"/>
            </a:lvl1pPr>
            <a:lvl2pPr marL="2088211" indent="0">
              <a:buNone/>
              <a:defRPr sz="5500"/>
            </a:lvl2pPr>
            <a:lvl3pPr marL="4176421" indent="0">
              <a:buNone/>
              <a:defRPr sz="4500"/>
            </a:lvl3pPr>
            <a:lvl4pPr marL="6264632" indent="0">
              <a:buNone/>
              <a:defRPr sz="4100"/>
            </a:lvl4pPr>
            <a:lvl5pPr marL="8352842" indent="0">
              <a:buNone/>
              <a:defRPr sz="4100"/>
            </a:lvl5pPr>
            <a:lvl6pPr marL="10441054" indent="0">
              <a:buNone/>
              <a:defRPr sz="4100"/>
            </a:lvl6pPr>
            <a:lvl7pPr marL="12529264" indent="0">
              <a:buNone/>
              <a:defRPr sz="4100"/>
            </a:lvl7pPr>
            <a:lvl8pPr marL="14617475" indent="0">
              <a:buNone/>
              <a:defRPr sz="4100"/>
            </a:lvl8pPr>
            <a:lvl9pPr marL="16705685" indent="0">
              <a:buNone/>
              <a:defRPr sz="41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5F4-CEB9-4F13-BC91-A7D2275753A4}" type="datetimeFigureOut">
              <a:rPr lang="ko-KR" altLang="en-US" smtClean="0"/>
              <a:pPr/>
              <a:t>2025-07-22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5F4-CEB9-4F13-BC91-A7D2275753A4}" type="datetimeFigureOut">
              <a:rPr lang="ko-KR" altLang="en-US" smtClean="0"/>
              <a:pPr/>
              <a:t>2025-07-22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21952982" y="1714329"/>
            <a:ext cx="6812994" cy="365259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514000" y="1714329"/>
            <a:ext cx="19934316" cy="365259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025F4-CEB9-4F13-BC91-A7D2275753A4}" type="datetimeFigureOut">
              <a:rPr lang="ko-KR" altLang="en-US" smtClean="0"/>
              <a:pPr/>
              <a:t>2025-07-22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513999" y="1714327"/>
            <a:ext cx="27251978" cy="7134755"/>
          </a:xfrm>
          <a:prstGeom prst="rect">
            <a:avLst/>
          </a:prstGeom>
        </p:spPr>
        <p:txBody>
          <a:bodyPr vert="horz" lIns="417642" tIns="208820" rIns="417642" bIns="2088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513999" y="9988658"/>
            <a:ext cx="27251978" cy="28251648"/>
          </a:xfrm>
          <a:prstGeom prst="rect">
            <a:avLst/>
          </a:prstGeom>
        </p:spPr>
        <p:txBody>
          <a:bodyPr vert="horz" lIns="417642" tIns="208820" rIns="417642" bIns="2088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513999" y="39677164"/>
            <a:ext cx="7065328" cy="2279157"/>
          </a:xfrm>
          <a:prstGeom prst="rect">
            <a:avLst/>
          </a:prstGeom>
        </p:spPr>
        <p:txBody>
          <a:bodyPr vert="horz" lIns="417642" tIns="208820" rIns="417642" bIns="208820" rtlCol="0" anchor="ctr"/>
          <a:lstStyle>
            <a:lvl1pPr algn="l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5025F4-CEB9-4F13-BC91-A7D2275753A4}" type="datetimeFigureOut">
              <a:rPr lang="ko-KR" altLang="en-US" smtClean="0"/>
              <a:pPr/>
              <a:t>2025-07-22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345659" y="39677164"/>
            <a:ext cx="9588658" cy="2279157"/>
          </a:xfrm>
          <a:prstGeom prst="rect">
            <a:avLst/>
          </a:prstGeom>
        </p:spPr>
        <p:txBody>
          <a:bodyPr vert="horz" lIns="417642" tIns="208820" rIns="417642" bIns="208820" rtlCol="0" anchor="ctr"/>
          <a:lstStyle>
            <a:lvl1pPr algn="ct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21700649" y="39677164"/>
            <a:ext cx="7065328" cy="2279157"/>
          </a:xfrm>
          <a:prstGeom prst="rect">
            <a:avLst/>
          </a:prstGeom>
        </p:spPr>
        <p:txBody>
          <a:bodyPr vert="horz" lIns="417642" tIns="208820" rIns="417642" bIns="208820" rtlCol="0" anchor="ctr"/>
          <a:lstStyle>
            <a:lvl1pPr algn="r">
              <a:defRPr sz="5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537A8-C292-4CE5-A712-C4EE118AEE97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76421" rtl="0" eaLnBrk="1" latinLnBrk="1" hangingPunct="1">
        <a:spcBef>
          <a:spcPct val="0"/>
        </a:spcBef>
        <a:buNone/>
        <a:defRPr sz="20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66157" indent="-1566157" algn="l" defTabSz="4176421" rtl="0" eaLnBrk="1" latinLnBrk="1" hangingPunct="1">
        <a:spcBef>
          <a:spcPct val="20000"/>
        </a:spcBef>
        <a:buFont typeface="Arial" pitchFamily="34" charset="0"/>
        <a:buChar char="•"/>
        <a:defRPr sz="14600" kern="1200">
          <a:solidFill>
            <a:schemeClr val="tx1"/>
          </a:solidFill>
          <a:latin typeface="+mn-lt"/>
          <a:ea typeface="+mn-ea"/>
          <a:cs typeface="+mn-cs"/>
        </a:defRPr>
      </a:lvl1pPr>
      <a:lvl2pPr marL="3393342" indent="-1305131" algn="l" defTabSz="4176421" rtl="0" eaLnBrk="1" latinLnBrk="1" hangingPunct="1">
        <a:spcBef>
          <a:spcPct val="20000"/>
        </a:spcBef>
        <a:buFont typeface="Arial" pitchFamily="34" charset="0"/>
        <a:buChar char="–"/>
        <a:defRPr sz="12700" kern="1200">
          <a:solidFill>
            <a:schemeClr val="tx1"/>
          </a:solidFill>
          <a:latin typeface="+mn-lt"/>
          <a:ea typeface="+mn-ea"/>
          <a:cs typeface="+mn-cs"/>
        </a:defRPr>
      </a:lvl2pPr>
      <a:lvl3pPr marL="5220526" indent="-1044105" algn="l" defTabSz="4176421" rtl="0" eaLnBrk="1" latinLnBrk="1" hangingPunct="1">
        <a:spcBef>
          <a:spcPct val="20000"/>
        </a:spcBef>
        <a:buFont typeface="Arial" pitchFamily="34" charset="0"/>
        <a:buChar char="•"/>
        <a:defRPr sz="10900" kern="1200">
          <a:solidFill>
            <a:schemeClr val="tx1"/>
          </a:solidFill>
          <a:latin typeface="+mn-lt"/>
          <a:ea typeface="+mn-ea"/>
          <a:cs typeface="+mn-cs"/>
        </a:defRPr>
      </a:lvl3pPr>
      <a:lvl4pPr marL="7308737" indent="-1044105" algn="l" defTabSz="4176421" rtl="0" eaLnBrk="1" latinLnBrk="1" hangingPunct="1">
        <a:spcBef>
          <a:spcPct val="20000"/>
        </a:spcBef>
        <a:buFont typeface="Arial" pitchFamily="34" charset="0"/>
        <a:buChar char="–"/>
        <a:defRPr sz="9200" kern="1200">
          <a:solidFill>
            <a:schemeClr val="tx1"/>
          </a:solidFill>
          <a:latin typeface="+mn-lt"/>
          <a:ea typeface="+mn-ea"/>
          <a:cs typeface="+mn-cs"/>
        </a:defRPr>
      </a:lvl4pPr>
      <a:lvl5pPr marL="9396947" indent="-1044105" algn="l" defTabSz="4176421" rtl="0" eaLnBrk="1" latinLnBrk="1" hangingPunct="1">
        <a:spcBef>
          <a:spcPct val="20000"/>
        </a:spcBef>
        <a:buFont typeface="Arial" pitchFamily="34" charset="0"/>
        <a:buChar char="»"/>
        <a:defRPr sz="9200" kern="1200">
          <a:solidFill>
            <a:schemeClr val="tx1"/>
          </a:solidFill>
          <a:latin typeface="+mn-lt"/>
          <a:ea typeface="+mn-ea"/>
          <a:cs typeface="+mn-cs"/>
        </a:defRPr>
      </a:lvl5pPr>
      <a:lvl6pPr marL="11485159" indent="-1044105" algn="l" defTabSz="4176421" rtl="0" eaLnBrk="1" latinLnBrk="1" hangingPunct="1">
        <a:spcBef>
          <a:spcPct val="20000"/>
        </a:spcBef>
        <a:buFont typeface="Arial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6pPr>
      <a:lvl7pPr marL="13573369" indent="-1044105" algn="l" defTabSz="4176421" rtl="0" eaLnBrk="1" latinLnBrk="1" hangingPunct="1">
        <a:spcBef>
          <a:spcPct val="20000"/>
        </a:spcBef>
        <a:buFont typeface="Arial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7pPr>
      <a:lvl8pPr marL="15661580" indent="-1044105" algn="l" defTabSz="4176421" rtl="0" eaLnBrk="1" latinLnBrk="1" hangingPunct="1">
        <a:spcBef>
          <a:spcPct val="20000"/>
        </a:spcBef>
        <a:buFont typeface="Arial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8pPr>
      <a:lvl9pPr marL="17749790" indent="-1044105" algn="l" defTabSz="4176421" rtl="0" eaLnBrk="1" latinLnBrk="1" hangingPunct="1">
        <a:spcBef>
          <a:spcPct val="20000"/>
        </a:spcBef>
        <a:buFont typeface="Arial" pitchFamily="34" charset="0"/>
        <a:buChar char="•"/>
        <a:defRPr sz="9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4176421" rtl="0" eaLnBrk="1" latinLnBrk="1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1pPr>
      <a:lvl2pPr marL="2088211" algn="l" defTabSz="4176421" rtl="0" eaLnBrk="1" latinLnBrk="1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2pPr>
      <a:lvl3pPr marL="4176421" algn="l" defTabSz="4176421" rtl="0" eaLnBrk="1" latinLnBrk="1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3pPr>
      <a:lvl4pPr marL="6264632" algn="l" defTabSz="4176421" rtl="0" eaLnBrk="1" latinLnBrk="1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4pPr>
      <a:lvl5pPr marL="8352842" algn="l" defTabSz="4176421" rtl="0" eaLnBrk="1" latinLnBrk="1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5pPr>
      <a:lvl6pPr marL="10441054" algn="l" defTabSz="4176421" rtl="0" eaLnBrk="1" latinLnBrk="1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6pPr>
      <a:lvl7pPr marL="12529264" algn="l" defTabSz="4176421" rtl="0" eaLnBrk="1" latinLnBrk="1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7pPr>
      <a:lvl8pPr marL="14617475" algn="l" defTabSz="4176421" rtl="0" eaLnBrk="1" latinLnBrk="1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8pPr>
      <a:lvl9pPr marL="16705685" algn="l" defTabSz="4176421" rtl="0" eaLnBrk="1" latinLnBrk="1" hangingPunct="1">
        <a:defRPr sz="8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직사각형 104">
            <a:extLst>
              <a:ext uri="{FF2B5EF4-FFF2-40B4-BE49-F238E27FC236}">
                <a16:creationId xmlns:a16="http://schemas.microsoft.com/office/drawing/2014/main" id="{843C7641-84AD-90E0-4251-65043B1DF98C}"/>
              </a:ext>
            </a:extLst>
          </p:cNvPr>
          <p:cNvSpPr/>
          <p:nvPr/>
        </p:nvSpPr>
        <p:spPr>
          <a:xfrm>
            <a:off x="9091315" y="7830754"/>
            <a:ext cx="5442844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ko-KR" sz="3400" dirty="0"/>
              <a:t>Fixed order ABSA templates (ex. C S A O) are </a:t>
            </a:r>
            <a:r>
              <a:rPr lang="en-US" altLang="ko-KR" sz="3400" u="sng" dirty="0"/>
              <a:t>order sensitive</a:t>
            </a:r>
            <a:r>
              <a:rPr lang="en-US" altLang="ko-KR" sz="3400" dirty="0"/>
              <a:t>; </a:t>
            </a:r>
            <a:endParaRPr lang="en-US" altLang="ko-KR" sz="1500" dirty="0"/>
          </a:p>
        </p:txBody>
      </p:sp>
      <p:sp>
        <p:nvSpPr>
          <p:cNvPr id="82" name="TextBox 81"/>
          <p:cNvSpPr txBox="1"/>
          <p:nvPr/>
        </p:nvSpPr>
        <p:spPr>
          <a:xfrm>
            <a:off x="543821" y="508373"/>
            <a:ext cx="27989917" cy="3602369"/>
          </a:xfrm>
          <a:prstGeom prst="rect">
            <a:avLst/>
          </a:prstGeom>
          <a:noFill/>
        </p:spPr>
        <p:txBody>
          <a:bodyPr wrap="square" lIns="92809" tIns="46405" rIns="92809" bIns="46405" rtlCol="0">
            <a:spAutoFit/>
          </a:bodyPr>
          <a:lstStyle/>
          <a:p>
            <a:pPr algn="ctr"/>
            <a:r>
              <a:rPr lang="en-US" altLang="ko-KR" sz="6600" b="1" dirty="0"/>
              <a:t>Dynamic Order Template Prediction for </a:t>
            </a:r>
          </a:p>
          <a:p>
            <a:pPr algn="ctr"/>
            <a:r>
              <a:rPr lang="en-US" altLang="ko-KR" sz="6600" b="1" dirty="0"/>
              <a:t>Generative Aspect-Based Sentiment Analysis</a:t>
            </a:r>
            <a:endParaRPr lang="en-US" altLang="ko-KR" sz="2400" dirty="0">
              <a:latin typeface="+mj-lt"/>
              <a:ea typeface="아리따-부리(OTF)-Medium" panose="02020603020101020101" pitchFamily="18" charset="-127"/>
              <a:cs typeface="Arial" panose="020B0604020202020204" pitchFamily="34" charset="0"/>
            </a:endParaRPr>
          </a:p>
          <a:p>
            <a:pPr algn="ctr"/>
            <a:r>
              <a:rPr lang="en-US" altLang="ko-KR" sz="4800" dirty="0" err="1">
                <a:latin typeface="+mj-lt"/>
                <a:ea typeface="아리따-부리(OTF)-Medium" panose="02020603020101020101" pitchFamily="18" charset="-127"/>
                <a:cs typeface="Arial" panose="020B0604020202020204" pitchFamily="34" charset="0"/>
              </a:rPr>
              <a:t>Yonghyun</a:t>
            </a:r>
            <a:r>
              <a:rPr lang="en-US" altLang="ko-KR" sz="4800" dirty="0">
                <a:latin typeface="+mj-lt"/>
                <a:ea typeface="아리따-부리(OTF)-Medium" panose="02020603020101020101" pitchFamily="18" charset="-127"/>
                <a:cs typeface="Arial" panose="020B0604020202020204" pitchFamily="34" charset="0"/>
              </a:rPr>
              <a:t> Jun, </a:t>
            </a:r>
            <a:r>
              <a:rPr lang="en-US" altLang="ko-KR" sz="4800" dirty="0" err="1">
                <a:latin typeface="+mj-lt"/>
                <a:ea typeface="아리따-부리(OTF)-Medium" panose="02020603020101020101" pitchFamily="18" charset="-127"/>
                <a:cs typeface="Arial" panose="020B0604020202020204" pitchFamily="34" charset="0"/>
              </a:rPr>
              <a:t>Hwanhee</a:t>
            </a:r>
            <a:r>
              <a:rPr lang="en-US" altLang="ko-KR" sz="4800" dirty="0">
                <a:latin typeface="+mj-lt"/>
                <a:ea typeface="아리따-부리(OTF)-Medium" panose="02020603020101020101" pitchFamily="18" charset="-127"/>
                <a:cs typeface="Arial" panose="020B0604020202020204" pitchFamily="34" charset="0"/>
              </a:rPr>
              <a:t> Lee </a:t>
            </a:r>
            <a:endParaRPr lang="en-US" altLang="ko-KR" sz="5000" baseline="30000" dirty="0">
              <a:latin typeface="+mj-lt"/>
              <a:ea typeface="아리따-부리(OTF)-Medium" panose="02020603020101020101" pitchFamily="18" charset="-127"/>
              <a:cs typeface="Arial" panose="020B0604020202020204" pitchFamily="34" charset="0"/>
            </a:endParaRPr>
          </a:p>
          <a:p>
            <a:pPr algn="ctr"/>
            <a:r>
              <a:rPr lang="en-US" altLang="ko-KR" sz="4800" dirty="0">
                <a:latin typeface="+mj-lt"/>
                <a:ea typeface="아리따-부리(OTF)-Medium" panose="02020603020101020101" pitchFamily="18" charset="-127"/>
                <a:cs typeface="Arial" panose="020B0604020202020204" pitchFamily="34" charset="0"/>
              </a:rPr>
              <a:t>Language Intelligence lab, Chung-Ang University</a:t>
            </a:r>
          </a:p>
        </p:txBody>
      </p:sp>
      <p:cxnSp>
        <p:nvCxnSpPr>
          <p:cNvPr id="77" name="직선 연결선 76"/>
          <p:cNvCxnSpPr>
            <a:cxnSpLocks/>
          </p:cNvCxnSpPr>
          <p:nvPr/>
        </p:nvCxnSpPr>
        <p:spPr>
          <a:xfrm>
            <a:off x="14885475" y="6876611"/>
            <a:ext cx="53294" cy="35589991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A7686BF-BD60-BCAA-CABA-AE9A11459D92}"/>
              </a:ext>
            </a:extLst>
          </p:cNvPr>
          <p:cNvGrpSpPr/>
          <p:nvPr/>
        </p:nvGrpSpPr>
        <p:grpSpPr>
          <a:xfrm>
            <a:off x="445835" y="6354590"/>
            <a:ext cx="14404405" cy="1070437"/>
            <a:chOff x="445835" y="6354590"/>
            <a:chExt cx="14404405" cy="1070437"/>
          </a:xfrm>
        </p:grpSpPr>
        <p:sp>
          <p:nvSpPr>
            <p:cNvPr id="78" name="직사각형 77"/>
            <p:cNvSpPr/>
            <p:nvPr/>
          </p:nvSpPr>
          <p:spPr>
            <a:xfrm>
              <a:off x="448640" y="6354590"/>
              <a:ext cx="14401600" cy="9838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5400" b="1" dirty="0">
                  <a:solidFill>
                    <a:schemeClr val="tx1"/>
                  </a:solidFill>
                  <a:latin typeface="Helvetica" panose="020B0500000000000000" pitchFamily="34" charset="0"/>
                  <a:ea typeface="아리따-부리(OTF)-Bold" panose="02020603020101020101" pitchFamily="18" charset="-127"/>
                  <a:cs typeface="Arial" pitchFamily="34" charset="0"/>
                </a:rPr>
                <a:t> Motivation &amp; Problem</a:t>
              </a:r>
              <a:endParaRPr lang="ko-KR" altLang="en-US" sz="5400" b="1" dirty="0">
                <a:solidFill>
                  <a:schemeClr val="tx1"/>
                </a:solidFill>
                <a:latin typeface="Helvetica" panose="020B0500000000000000" pitchFamily="34" charset="0"/>
                <a:ea typeface="아리따-부리(OTF)-Bold" panose="02020603020101020101" pitchFamily="18" charset="-127"/>
                <a:cs typeface="Arial" pitchFamily="34" charset="0"/>
              </a:endParaRPr>
            </a:p>
          </p:txBody>
        </p:sp>
        <p:cxnSp>
          <p:nvCxnSpPr>
            <p:cNvPr id="80" name="직선 연결선 79"/>
            <p:cNvCxnSpPr/>
            <p:nvPr/>
          </p:nvCxnSpPr>
          <p:spPr>
            <a:xfrm>
              <a:off x="445835" y="7409997"/>
              <a:ext cx="13681520" cy="15030"/>
            </a:xfrm>
            <a:prstGeom prst="line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직사각형 104">
            <a:extLst>
              <a:ext uri="{FF2B5EF4-FFF2-40B4-BE49-F238E27FC236}">
                <a16:creationId xmlns:a16="http://schemas.microsoft.com/office/drawing/2014/main" id="{C0A42B8D-62B4-4756-B550-4D0405C27180}"/>
              </a:ext>
            </a:extLst>
          </p:cNvPr>
          <p:cNvSpPr/>
          <p:nvPr/>
        </p:nvSpPr>
        <p:spPr>
          <a:xfrm>
            <a:off x="15345076" y="11959323"/>
            <a:ext cx="14442263" cy="13696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ko-KR" sz="3400" dirty="0"/>
              <a:t>Zero shot cross domain test: </a:t>
            </a:r>
            <a:r>
              <a:rPr lang="en-US" altLang="ko-KR" sz="3400" dirty="0" err="1"/>
              <a:t>SemEval</a:t>
            </a:r>
            <a:r>
              <a:rPr lang="en-US" altLang="ko-KR" sz="3400" dirty="0"/>
              <a:t>(R15, R16,</a:t>
            </a:r>
            <a:r>
              <a:rPr lang="ko-KR" altLang="en-US" sz="3400" dirty="0"/>
              <a:t> </a:t>
            </a:r>
            <a:r>
              <a:rPr lang="en-US" altLang="ko-KR" sz="3400" dirty="0"/>
              <a:t>Rest) ↔ Yelp(M-Rest)</a:t>
            </a:r>
          </a:p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altLang="ko-KR" sz="15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ko-KR" sz="3400" b="1" u="sng" dirty="0"/>
              <a:t>DOT retains relatively high F1-score</a:t>
            </a:r>
            <a:r>
              <a:rPr lang="en-US" altLang="ko-KR" sz="3400" dirty="0"/>
              <a:t>; The others crash.</a:t>
            </a:r>
            <a:endParaRPr kumimoji="0" lang="en-US" altLang="ko-KR" sz="3400" b="0" i="0" u="none" strike="noStrike" cap="none" normalizeH="0" baseline="0" dirty="0">
              <a:ln>
                <a:noFill/>
              </a:ln>
              <a:effectLst/>
            </a:endParaRPr>
          </a:p>
        </p:txBody>
      </p: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C427A3CA-A1C0-CF70-9C86-7D05980E22A6}"/>
              </a:ext>
            </a:extLst>
          </p:cNvPr>
          <p:cNvGrpSpPr/>
          <p:nvPr/>
        </p:nvGrpSpPr>
        <p:grpSpPr>
          <a:xfrm>
            <a:off x="15309471" y="38793046"/>
            <a:ext cx="14395668" cy="3749342"/>
            <a:chOff x="15613927" y="34479320"/>
            <a:chExt cx="14235477" cy="3749342"/>
          </a:xfrm>
        </p:grpSpPr>
        <p:grpSp>
          <p:nvGrpSpPr>
            <p:cNvPr id="48" name="그룹 63">
              <a:extLst>
                <a:ext uri="{FF2B5EF4-FFF2-40B4-BE49-F238E27FC236}">
                  <a16:creationId xmlns:a16="http://schemas.microsoft.com/office/drawing/2014/main" id="{7094A93B-3333-E933-3AB2-6D0D871098CB}"/>
                </a:ext>
              </a:extLst>
            </p:cNvPr>
            <p:cNvGrpSpPr/>
            <p:nvPr/>
          </p:nvGrpSpPr>
          <p:grpSpPr>
            <a:xfrm>
              <a:off x="15632025" y="34479320"/>
              <a:ext cx="14217379" cy="1098400"/>
              <a:chOff x="15923169" y="9495851"/>
              <a:chExt cx="13690426" cy="1098400"/>
            </a:xfrm>
          </p:grpSpPr>
          <p:sp>
            <p:nvSpPr>
              <p:cNvPr id="49" name="직사각형 64">
                <a:extLst>
                  <a:ext uri="{FF2B5EF4-FFF2-40B4-BE49-F238E27FC236}">
                    <a16:creationId xmlns:a16="http://schemas.microsoft.com/office/drawing/2014/main" id="{BD5C5B46-85BA-2E58-1E32-34E49E567B37}"/>
                  </a:ext>
                </a:extLst>
              </p:cNvPr>
              <p:cNvSpPr/>
              <p:nvPr/>
            </p:nvSpPr>
            <p:spPr>
              <a:xfrm>
                <a:off x="16037841" y="9495851"/>
                <a:ext cx="13575754" cy="1026392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5400" b="1" dirty="0">
                    <a:solidFill>
                      <a:schemeClr val="tx1"/>
                    </a:solidFill>
                    <a:latin typeface="Helvetica" panose="020B0500000000000000" pitchFamily="34" charset="0"/>
                    <a:ea typeface="아리따-부리(OTF)-Bold" panose="02020603020101020101" pitchFamily="18" charset="-127"/>
                    <a:cs typeface="Arial" pitchFamily="34" charset="0"/>
                  </a:rPr>
                  <a:t>Conclusion</a:t>
                </a:r>
                <a:endParaRPr lang="ko-KR" altLang="en-US" sz="5400" b="1" dirty="0">
                  <a:solidFill>
                    <a:schemeClr val="tx1"/>
                  </a:solidFill>
                  <a:latin typeface="Helvetica" panose="020B0500000000000000" pitchFamily="34" charset="0"/>
                  <a:ea typeface="아리따-부리(OTF)-Bold" panose="02020603020101020101" pitchFamily="18" charset="-127"/>
                  <a:cs typeface="Arial" pitchFamily="34" charset="0"/>
                </a:endParaRPr>
              </a:p>
            </p:txBody>
          </p:sp>
          <p:cxnSp>
            <p:nvCxnSpPr>
              <p:cNvPr id="50" name="직선 연결선 40">
                <a:extLst>
                  <a:ext uri="{FF2B5EF4-FFF2-40B4-BE49-F238E27FC236}">
                    <a16:creationId xmlns:a16="http://schemas.microsoft.com/office/drawing/2014/main" id="{07904E43-0A10-6F5C-72E3-3FE6A982645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923169" y="10576078"/>
                <a:ext cx="13082695" cy="18173"/>
              </a:xfrm>
              <a:prstGeom prst="line">
                <a:avLst/>
              </a:prstGeom>
              <a:ln w="57150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1" name="직사각형 104">
              <a:extLst>
                <a:ext uri="{FF2B5EF4-FFF2-40B4-BE49-F238E27FC236}">
                  <a16:creationId xmlns:a16="http://schemas.microsoft.com/office/drawing/2014/main" id="{AA89CF79-5F7A-6739-2186-A52FEFFF1059}"/>
                </a:ext>
              </a:extLst>
            </p:cNvPr>
            <p:cNvSpPr/>
            <p:nvPr/>
          </p:nvSpPr>
          <p:spPr>
            <a:xfrm>
              <a:off x="15613927" y="35812616"/>
              <a:ext cx="13231388" cy="241604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571500" indent="-571500" algn="just">
                <a:buFont typeface="Arial" panose="020B0604020202020204" pitchFamily="34" charset="0"/>
                <a:buChar char="•"/>
              </a:pPr>
              <a:r>
                <a:rPr lang="en-US" altLang="ko-KR" sz="3400" i="1" dirty="0"/>
                <a:t>DOT</a:t>
              </a:r>
              <a:r>
                <a:rPr lang="en-US" altLang="ko-KR" sz="3400" dirty="0"/>
                <a:t> merges the best of </a:t>
              </a:r>
              <a:r>
                <a:rPr lang="en-US" altLang="ko-KR" sz="3400" b="1" u="sng" dirty="0"/>
                <a:t>single view efficiency</a:t>
              </a:r>
              <a:r>
                <a:rPr lang="en-US" altLang="ko-KR" sz="3400" dirty="0"/>
                <a:t> and </a:t>
              </a:r>
              <a:r>
                <a:rPr lang="en-US" altLang="ko-KR" sz="3400" b="1" u="sng" dirty="0"/>
                <a:t>multi view robustness</a:t>
              </a:r>
              <a:r>
                <a:rPr lang="en-US" altLang="ko-KR" sz="3400" dirty="0"/>
                <a:t>. Across 9 ABSA benchmarks we exceed—or reach—</a:t>
              </a:r>
              <a:r>
                <a:rPr lang="en-US" altLang="ko-KR" sz="3400" b="1" u="sng" dirty="0"/>
                <a:t>state of the art F1</a:t>
              </a:r>
              <a:r>
                <a:rPr lang="en-US" altLang="ko-KR" sz="3400" dirty="0"/>
                <a:t> while </a:t>
              </a:r>
              <a:r>
                <a:rPr lang="en-US" altLang="ko-KR" sz="3400" b="1" u="sng" dirty="0"/>
                <a:t>cutting inference time</a:t>
              </a:r>
              <a:r>
                <a:rPr lang="en-US" altLang="ko-KR" sz="3400" dirty="0"/>
                <a:t>. </a:t>
              </a:r>
            </a:p>
            <a:p>
              <a:pPr marL="571500" indent="-571500" algn="just">
                <a:buFont typeface="Arial" panose="020B0604020202020204" pitchFamily="34" charset="0"/>
                <a:buChar char="•"/>
              </a:pPr>
              <a:endParaRPr lang="en-US" altLang="ko-KR" sz="1500" dirty="0"/>
            </a:p>
            <a:p>
              <a:pPr marL="571500" indent="-571500" algn="just">
                <a:buFont typeface="Arial" panose="020B0604020202020204" pitchFamily="34" charset="0"/>
                <a:buChar char="•"/>
              </a:pPr>
              <a:r>
                <a:rPr lang="en-US" altLang="ko-KR" sz="3400" dirty="0"/>
                <a:t>In short: Fewer views, Better tuples, Improved transferability.</a:t>
              </a: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8CD38BC6-AAF8-5A56-6EC4-20595824972D}"/>
              </a:ext>
            </a:extLst>
          </p:cNvPr>
          <p:cNvGrpSpPr/>
          <p:nvPr/>
        </p:nvGrpSpPr>
        <p:grpSpPr>
          <a:xfrm>
            <a:off x="15546376" y="6354590"/>
            <a:ext cx="14404405" cy="1070437"/>
            <a:chOff x="445835" y="6354590"/>
            <a:chExt cx="14404405" cy="1070437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675572DE-A3F1-8FCA-F75A-137E4C4EB108}"/>
                </a:ext>
              </a:extLst>
            </p:cNvPr>
            <p:cNvSpPr/>
            <p:nvPr/>
          </p:nvSpPr>
          <p:spPr>
            <a:xfrm>
              <a:off x="448640" y="6354590"/>
              <a:ext cx="14401600" cy="9838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5400" b="1" dirty="0">
                  <a:solidFill>
                    <a:schemeClr val="tx1"/>
                  </a:solidFill>
                  <a:latin typeface="Helvetica" panose="020B0500000000000000" pitchFamily="34" charset="0"/>
                  <a:ea typeface="아리따-부리(OTF)-Bold" panose="02020603020101020101" pitchFamily="18" charset="-127"/>
                  <a:cs typeface="Arial" pitchFamily="34" charset="0"/>
                </a:rPr>
                <a:t>Transferability</a:t>
              </a:r>
              <a:endParaRPr lang="ko-KR" altLang="en-US" sz="5400" b="1" dirty="0">
                <a:solidFill>
                  <a:schemeClr val="tx1"/>
                </a:solidFill>
                <a:latin typeface="Helvetica" panose="020B0500000000000000" pitchFamily="34" charset="0"/>
                <a:ea typeface="아리따-부리(OTF)-Bold" panose="02020603020101020101" pitchFamily="18" charset="-127"/>
                <a:cs typeface="Arial" pitchFamily="34" charset="0"/>
              </a:endParaRPr>
            </a:p>
          </p:txBody>
        </p: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80525F9F-B63A-F043-80CA-EA17761C8934}"/>
                </a:ext>
              </a:extLst>
            </p:cNvPr>
            <p:cNvCxnSpPr/>
            <p:nvPr/>
          </p:nvCxnSpPr>
          <p:spPr>
            <a:xfrm>
              <a:off x="445835" y="7409997"/>
              <a:ext cx="13681520" cy="15030"/>
            </a:xfrm>
            <a:prstGeom prst="line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0" name="그룹 89">
            <a:extLst>
              <a:ext uri="{FF2B5EF4-FFF2-40B4-BE49-F238E27FC236}">
                <a16:creationId xmlns:a16="http://schemas.microsoft.com/office/drawing/2014/main" id="{2E5DB85C-4135-6791-7D4A-B6A64C177584}"/>
              </a:ext>
            </a:extLst>
          </p:cNvPr>
          <p:cNvGrpSpPr/>
          <p:nvPr/>
        </p:nvGrpSpPr>
        <p:grpSpPr>
          <a:xfrm>
            <a:off x="7761466" y="4158346"/>
            <a:ext cx="10825901" cy="2052229"/>
            <a:chOff x="7761466" y="4158346"/>
            <a:chExt cx="10825901" cy="2052229"/>
          </a:xfrm>
        </p:grpSpPr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D59CC851-645E-4D0E-392A-804AAC467CDE}"/>
                </a:ext>
              </a:extLst>
            </p:cNvPr>
            <p:cNvGrpSpPr/>
            <p:nvPr/>
          </p:nvGrpSpPr>
          <p:grpSpPr>
            <a:xfrm>
              <a:off x="13969280" y="4158346"/>
              <a:ext cx="4618087" cy="2052229"/>
              <a:chOff x="13969280" y="5166458"/>
              <a:chExt cx="4618087" cy="2052229"/>
            </a:xfrm>
          </p:grpSpPr>
          <p:pic>
            <p:nvPicPr>
              <p:cNvPr id="25" name="그림 13" descr="C:/Users/user/AppData/Roaming/PolarisOffice/ETemp/9620_23735888/image1.png">
                <a:extLst>
                  <a:ext uri="{FF2B5EF4-FFF2-40B4-BE49-F238E27FC236}">
                    <a16:creationId xmlns:a16="http://schemas.microsoft.com/office/drawing/2014/main" id="{E52F0162-04F7-9E3D-C643-FE06C5EC9EB8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hqprint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3969280" y="5166458"/>
                <a:ext cx="2052229" cy="2052229"/>
              </a:xfrm>
              <a:prstGeom prst="rect">
                <a:avLst/>
              </a:prstGeom>
              <a:noFill/>
            </p:spPr>
          </p:pic>
          <p:pic>
            <p:nvPicPr>
              <p:cNvPr id="26" name="그림 27" descr="그래픽, 달이(가) 표시된 사진&#10;&#10;자동 생성된 설명">
                <a:extLst>
                  <a:ext uri="{FF2B5EF4-FFF2-40B4-BE49-F238E27FC236}">
                    <a16:creationId xmlns:a16="http://schemas.microsoft.com/office/drawing/2014/main" id="{D9028F0E-D5A8-1B3C-B1D4-B81060794EF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6740279" y="5202462"/>
                <a:ext cx="1847088" cy="1853903"/>
              </a:xfrm>
              <a:prstGeom prst="rect">
                <a:avLst/>
              </a:prstGeom>
            </p:spPr>
          </p:pic>
        </p:grpSp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906FF6E3-B99C-B7F5-B7D9-6FD4313FE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61466" y="4338075"/>
              <a:ext cx="5484733" cy="1561558"/>
            </a:xfrm>
            <a:prstGeom prst="rect">
              <a:avLst/>
            </a:prstGeom>
          </p:spPr>
        </p:pic>
      </p:grpSp>
      <p:sp>
        <p:nvSpPr>
          <p:cNvPr id="8" name="직사각형 104">
            <a:extLst>
              <a:ext uri="{FF2B5EF4-FFF2-40B4-BE49-F238E27FC236}">
                <a16:creationId xmlns:a16="http://schemas.microsoft.com/office/drawing/2014/main" id="{868D33F8-29BE-8D02-E215-B4629B0C9AA9}"/>
              </a:ext>
            </a:extLst>
          </p:cNvPr>
          <p:cNvSpPr/>
          <p:nvPr/>
        </p:nvSpPr>
        <p:spPr>
          <a:xfrm>
            <a:off x="25732708" y="3908109"/>
            <a:ext cx="421807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kumimoji="0" lang="en-US" altLang="ko-KR" sz="5000" b="1" i="0" u="none" strike="noStrike" cap="none" normalizeH="0" baseline="0" dirty="0">
                <a:ln>
                  <a:noFill/>
                </a:ln>
                <a:effectLst/>
              </a:rPr>
              <a:t>Source Code</a:t>
            </a: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C522872F-13F2-8EB0-A791-43F9187CCC6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965" t="1166" r="1406" b="1041"/>
          <a:stretch>
            <a:fillRect/>
          </a:stretch>
        </p:blipFill>
        <p:spPr>
          <a:xfrm>
            <a:off x="270335" y="7927141"/>
            <a:ext cx="8829514" cy="7811034"/>
          </a:xfrm>
          <a:prstGeom prst="rect">
            <a:avLst/>
          </a:prstGeom>
        </p:spPr>
      </p:pic>
      <p:grpSp>
        <p:nvGrpSpPr>
          <p:cNvPr id="73" name="그룹 72">
            <a:extLst>
              <a:ext uri="{FF2B5EF4-FFF2-40B4-BE49-F238E27FC236}">
                <a16:creationId xmlns:a16="http://schemas.microsoft.com/office/drawing/2014/main" id="{6E8E280E-B626-7DAB-EAB8-3364A292214D}"/>
              </a:ext>
            </a:extLst>
          </p:cNvPr>
          <p:cNvGrpSpPr/>
          <p:nvPr/>
        </p:nvGrpSpPr>
        <p:grpSpPr>
          <a:xfrm>
            <a:off x="580767" y="16219686"/>
            <a:ext cx="15345142" cy="16417824"/>
            <a:chOff x="580767" y="16735989"/>
            <a:chExt cx="15345142" cy="16417824"/>
          </a:xfrm>
        </p:grpSpPr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B4BDB302-91DB-2FBD-441B-A1C11677256B}"/>
                </a:ext>
              </a:extLst>
            </p:cNvPr>
            <p:cNvGrpSpPr/>
            <p:nvPr/>
          </p:nvGrpSpPr>
          <p:grpSpPr>
            <a:xfrm>
              <a:off x="580767" y="16735989"/>
              <a:ext cx="13930135" cy="14002090"/>
              <a:chOff x="605772" y="21665635"/>
              <a:chExt cx="13930135" cy="14002090"/>
            </a:xfrm>
          </p:grpSpPr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92EA7D90-37AE-524C-A5EC-A111095AB454}"/>
                  </a:ext>
                </a:extLst>
              </p:cNvPr>
              <p:cNvGrpSpPr/>
              <p:nvPr/>
            </p:nvGrpSpPr>
            <p:grpSpPr>
              <a:xfrm>
                <a:off x="605772" y="21665635"/>
                <a:ext cx="13693231" cy="1026392"/>
                <a:chOff x="15923169" y="9738966"/>
                <a:chExt cx="13693231" cy="1026392"/>
              </a:xfrm>
            </p:grpSpPr>
            <p:sp>
              <p:nvSpPr>
                <p:cNvPr id="65" name="직사각형 64">
                  <a:extLst>
                    <a:ext uri="{FF2B5EF4-FFF2-40B4-BE49-F238E27FC236}">
                      <a16:creationId xmlns:a16="http://schemas.microsoft.com/office/drawing/2014/main" id="{7999507A-F9B6-D94F-B216-4A49444EA1AA}"/>
                    </a:ext>
                  </a:extLst>
                </p:cNvPr>
                <p:cNvSpPr/>
                <p:nvPr/>
              </p:nvSpPr>
              <p:spPr>
                <a:xfrm>
                  <a:off x="16037841" y="9738966"/>
                  <a:ext cx="13575754" cy="1026392"/>
                </a:xfrm>
                <a:prstGeom prst="rect">
                  <a:avLst/>
                </a:prstGeom>
                <a:solidFill>
                  <a:schemeClr val="bg1">
                    <a:alpha val="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ko-KR" sz="5400" b="1" dirty="0">
                      <a:solidFill>
                        <a:schemeClr val="tx1"/>
                      </a:solidFill>
                      <a:latin typeface="Helvetica" panose="020B0500000000000000" pitchFamily="34" charset="0"/>
                      <a:ea typeface="아리따-부리(OTF)-Bold" panose="02020603020101020101" pitchFamily="18" charset="-127"/>
                      <a:cs typeface="Arial" pitchFamily="34" charset="0"/>
                    </a:rPr>
                    <a:t>Method</a:t>
                  </a:r>
                  <a:endParaRPr lang="ko-KR" altLang="en-US" sz="5400" b="1" dirty="0">
                    <a:solidFill>
                      <a:schemeClr val="tx1"/>
                    </a:solidFill>
                    <a:latin typeface="Helvetica" panose="020B0500000000000000" pitchFamily="34" charset="0"/>
                    <a:ea typeface="아리따-부리(OTF)-Bold" panose="02020603020101020101" pitchFamily="18" charset="-127"/>
                    <a:cs typeface="Arial" pitchFamily="34" charset="0"/>
                  </a:endParaRPr>
                </a:p>
              </p:txBody>
            </p:sp>
            <p:cxnSp>
              <p:nvCxnSpPr>
                <p:cNvPr id="66" name="직선 연결선 40">
                  <a:extLst>
                    <a:ext uri="{FF2B5EF4-FFF2-40B4-BE49-F238E27FC236}">
                      <a16:creationId xmlns:a16="http://schemas.microsoft.com/office/drawing/2014/main" id="{BFCB74D4-E28F-E74E-9776-C5C05BC3288A}"/>
                    </a:ext>
                  </a:extLst>
                </p:cNvPr>
                <p:cNvCxnSpPr/>
                <p:nvPr/>
              </p:nvCxnSpPr>
              <p:spPr>
                <a:xfrm flipV="1">
                  <a:off x="15923169" y="10718800"/>
                  <a:ext cx="13693231" cy="19021"/>
                </a:xfrm>
                <a:prstGeom prst="line">
                  <a:avLst/>
                </a:prstGeom>
                <a:ln w="571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" name="직사각형 104">
                <a:extLst>
                  <a:ext uri="{FF2B5EF4-FFF2-40B4-BE49-F238E27FC236}">
                    <a16:creationId xmlns:a16="http://schemas.microsoft.com/office/drawing/2014/main" id="{35109B52-4171-1B78-9261-C7F54E7BCE36}"/>
                  </a:ext>
                </a:extLst>
              </p:cNvPr>
              <p:cNvSpPr/>
              <p:nvPr/>
            </p:nvSpPr>
            <p:spPr>
              <a:xfrm>
                <a:off x="605772" y="22925775"/>
                <a:ext cx="13930135" cy="127419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altLang="ko-KR" sz="3400" b="1" u="sng" dirty="0"/>
                  <a:t>Stage 1: View Training</a:t>
                </a:r>
                <a:r>
                  <a:rPr lang="en-US" altLang="ko-KR" sz="3400" dirty="0"/>
                  <a:t> - Train # tuples (K) via entropy ranked views </a:t>
                </a:r>
                <a:r>
                  <a:rPr lang="en-US" altLang="ko-KR" sz="3400" i="1" dirty="0"/>
                  <a:t>(A, C, S)</a:t>
                </a:r>
                <a:r>
                  <a:rPr lang="en-US" altLang="ko-KR" sz="3400" dirty="0"/>
                  <a:t> in one view ↔ one tuple scaffold.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3400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3400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1500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3400" dirty="0"/>
              </a:p>
              <a:p>
                <a:endParaRPr lang="en-US" altLang="ko-KR" sz="3400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altLang="ko-KR" sz="3400" b="1" u="sng" dirty="0"/>
                  <a:t>Stage 2: Tuple Training</a:t>
                </a:r>
                <a:r>
                  <a:rPr lang="en-US" altLang="ko-KR" sz="3400" dirty="0"/>
                  <a:t> - Reuse scaffolds to output full </a:t>
                </a:r>
                <a:r>
                  <a:rPr lang="en-US" altLang="ko-KR" sz="3400" i="1" dirty="0"/>
                  <a:t>(A C O S)</a:t>
                </a:r>
                <a:r>
                  <a:rPr lang="en-US" altLang="ko-KR" sz="3400" dirty="0"/>
                  <a:t> quadruples with one-to-one alignment.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3400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3400" dirty="0"/>
              </a:p>
              <a:p>
                <a:endParaRPr lang="en-US" altLang="ko-KR" sz="1500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r>
                  <a:rPr lang="en-US" altLang="ko-KR" sz="3400" dirty="0"/>
                  <a:t>Constrained decoding keeps output well formed.</a:t>
                </a:r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3400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3400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3400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3400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3400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3400" b="1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3400" b="1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1500" b="1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1500" b="1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1500" b="1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1500" b="1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1500" b="1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1500" b="1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1500" b="1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1500" b="1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1500" b="1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1500" b="1" dirty="0"/>
              </a:p>
              <a:p>
                <a:pPr marL="571500" indent="-571500">
                  <a:buFont typeface="Arial" panose="020B0604020202020204" pitchFamily="34" charset="0"/>
                  <a:buChar char="•"/>
                </a:pPr>
                <a:endParaRPr lang="en-US" altLang="ko-KR" sz="1500" dirty="0"/>
              </a:p>
            </p:txBody>
          </p:sp>
        </p:grpSp>
        <p:pic>
          <p:nvPicPr>
            <p:cNvPr id="56" name="그림 55">
              <a:extLst>
                <a:ext uri="{FF2B5EF4-FFF2-40B4-BE49-F238E27FC236}">
                  <a16:creationId xmlns:a16="http://schemas.microsoft.com/office/drawing/2014/main" id="{2978C8B0-2C40-B437-454A-71AC519526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t="1507"/>
            <a:stretch>
              <a:fillRect/>
            </a:stretch>
          </p:blipFill>
          <p:spPr>
            <a:xfrm>
              <a:off x="907204" y="24283873"/>
              <a:ext cx="13062076" cy="8028211"/>
            </a:xfrm>
            <a:prstGeom prst="rect">
              <a:avLst/>
            </a:prstGeom>
          </p:spPr>
        </p:pic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730DA66E-D489-55CA-FEF6-2C14B5C9035F}"/>
                </a:ext>
              </a:extLst>
            </p:cNvPr>
            <p:cNvGrpSpPr/>
            <p:nvPr/>
          </p:nvGrpSpPr>
          <p:grpSpPr>
            <a:xfrm>
              <a:off x="907204" y="19331411"/>
              <a:ext cx="15018705" cy="1652434"/>
              <a:chOff x="907204" y="23911894"/>
              <a:chExt cx="15018705" cy="1652434"/>
            </a:xfrm>
          </p:grpSpPr>
          <p:pic>
            <p:nvPicPr>
              <p:cNvPr id="28" name="그림 27">
                <a:extLst>
                  <a:ext uri="{FF2B5EF4-FFF2-40B4-BE49-F238E27FC236}">
                    <a16:creationId xmlns:a16="http://schemas.microsoft.com/office/drawing/2014/main" id="{5B81DDB4-7B31-14DB-DB8D-6A54DF28D3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07204" y="23911894"/>
                <a:ext cx="5728597" cy="824259"/>
              </a:xfrm>
              <a:prstGeom prst="rect">
                <a:avLst/>
              </a:prstGeom>
            </p:spPr>
          </p:pic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09E6D129-3305-2D4B-AC62-D03DA5D1D6B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7204" y="24740069"/>
                <a:ext cx="7361488" cy="824259"/>
              </a:xfrm>
              <a:prstGeom prst="rect">
                <a:avLst/>
              </a:prstGeom>
            </p:spPr>
          </p:pic>
          <p:sp>
            <p:nvSpPr>
              <p:cNvPr id="59" name="직사각형 104">
                <a:extLst>
                  <a:ext uri="{FF2B5EF4-FFF2-40B4-BE49-F238E27FC236}">
                    <a16:creationId xmlns:a16="http://schemas.microsoft.com/office/drawing/2014/main" id="{4891545F-FC8B-1FBF-0C7E-D03CE41AF3BC}"/>
                  </a:ext>
                </a:extLst>
              </p:cNvPr>
              <p:cNvSpPr/>
              <p:nvPr/>
            </p:nvSpPr>
            <p:spPr>
              <a:xfrm>
                <a:off x="6885482" y="24096566"/>
                <a:ext cx="7409919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en-US" altLang="ko-KR" sz="3000" dirty="0"/>
                  <a:t>Entropy score calculation</a:t>
                </a:r>
              </a:p>
            </p:txBody>
          </p:sp>
          <p:sp>
            <p:nvSpPr>
              <p:cNvPr id="60" name="직사각형 104">
                <a:extLst>
                  <a:ext uri="{FF2B5EF4-FFF2-40B4-BE49-F238E27FC236}">
                    <a16:creationId xmlns:a16="http://schemas.microsoft.com/office/drawing/2014/main" id="{7216AC37-F221-666A-ED4D-9CE0BAD019D8}"/>
                  </a:ext>
                </a:extLst>
              </p:cNvPr>
              <p:cNvSpPr/>
              <p:nvPr/>
            </p:nvSpPr>
            <p:spPr>
              <a:xfrm>
                <a:off x="8515990" y="24875199"/>
                <a:ext cx="7409919" cy="55399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Wingdings" panose="05000000000000000000" pitchFamily="2" charset="2"/>
                  <a:buChar char="Ø"/>
                </a:pPr>
                <a:r>
                  <a:rPr lang="en-US" altLang="ko-KR" sz="3000" dirty="0"/>
                  <a:t>First stage target</a:t>
                </a:r>
              </a:p>
            </p:txBody>
          </p:sp>
        </p:grpSp>
        <p:pic>
          <p:nvPicPr>
            <p:cNvPr id="67" name="그림 66">
              <a:extLst>
                <a:ext uri="{FF2B5EF4-FFF2-40B4-BE49-F238E27FC236}">
                  <a16:creationId xmlns:a16="http://schemas.microsoft.com/office/drawing/2014/main" id="{55D5311D-78E5-B456-A5BB-44B33A3DEC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07204" y="22636929"/>
              <a:ext cx="9410287" cy="824259"/>
            </a:xfrm>
            <a:prstGeom prst="rect">
              <a:avLst/>
            </a:prstGeom>
          </p:spPr>
        </p:pic>
        <p:sp>
          <p:nvSpPr>
            <p:cNvPr id="68" name="직사각형 104">
              <a:extLst>
                <a:ext uri="{FF2B5EF4-FFF2-40B4-BE49-F238E27FC236}">
                  <a16:creationId xmlns:a16="http://schemas.microsoft.com/office/drawing/2014/main" id="{D28BAE80-47D8-8644-8A5D-CEEBAC9F391A}"/>
                </a:ext>
              </a:extLst>
            </p:cNvPr>
            <p:cNvSpPr/>
            <p:nvPr/>
          </p:nvSpPr>
          <p:spPr>
            <a:xfrm>
              <a:off x="10531475" y="22856203"/>
              <a:ext cx="4057847" cy="5539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indent="-457200">
                <a:buFont typeface="Wingdings" panose="05000000000000000000" pitchFamily="2" charset="2"/>
                <a:buChar char="Ø"/>
              </a:pPr>
              <a:r>
                <a:rPr lang="en-US" altLang="ko-KR" sz="3000" dirty="0"/>
                <a:t>Second stage target</a:t>
              </a:r>
            </a:p>
          </p:txBody>
        </p:sp>
        <p:sp>
          <p:nvSpPr>
            <p:cNvPr id="69" name="직사각형 104">
              <a:extLst>
                <a:ext uri="{FF2B5EF4-FFF2-40B4-BE49-F238E27FC236}">
                  <a16:creationId xmlns:a16="http://schemas.microsoft.com/office/drawing/2014/main" id="{A3B905BC-00FB-1734-AF1B-5A99CC701F7C}"/>
                </a:ext>
              </a:extLst>
            </p:cNvPr>
            <p:cNvSpPr/>
            <p:nvPr/>
          </p:nvSpPr>
          <p:spPr>
            <a:xfrm>
              <a:off x="649595" y="32538260"/>
              <a:ext cx="13477760" cy="61555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571500" indent="-571500">
                <a:buFont typeface="Arial" panose="020B0604020202020204" pitchFamily="34" charset="0"/>
                <a:buChar char="•"/>
              </a:pPr>
              <a:r>
                <a:rPr lang="en-US" altLang="ko-KR" sz="3400" b="1" u="sng" dirty="0"/>
                <a:t>Two-stage inference:</a:t>
              </a:r>
              <a:r>
                <a:rPr lang="en-US" altLang="ko-KR" sz="3400" b="1" i="1" dirty="0"/>
                <a:t> </a:t>
              </a:r>
              <a:r>
                <a:rPr lang="en-US" altLang="ko-KR" sz="3400" dirty="0"/>
                <a:t>Predict # tuples </a:t>
              </a:r>
              <a:r>
                <a:rPr lang="en-US" altLang="ko-KR" sz="3400" dirty="0">
                  <a:sym typeface="Wingdings" panose="05000000000000000000" pitchFamily="2" charset="2"/>
                </a:rPr>
                <a:t></a:t>
              </a:r>
              <a:r>
                <a:rPr lang="en-US" altLang="ko-KR" sz="3400" dirty="0"/>
                <a:t> Predict exact tuples</a:t>
              </a:r>
              <a:endParaRPr lang="en-US" altLang="ko-KR" sz="1500" dirty="0"/>
            </a:p>
          </p:txBody>
        </p:sp>
      </p:grpSp>
      <p:sp>
        <p:nvSpPr>
          <p:cNvPr id="70" name="직사각형 104">
            <a:extLst>
              <a:ext uri="{FF2B5EF4-FFF2-40B4-BE49-F238E27FC236}">
                <a16:creationId xmlns:a16="http://schemas.microsoft.com/office/drawing/2014/main" id="{719E68A6-8CA4-E3FC-E82A-384B1AF02B29}"/>
              </a:ext>
            </a:extLst>
          </p:cNvPr>
          <p:cNvSpPr/>
          <p:nvPr/>
        </p:nvSpPr>
        <p:spPr>
          <a:xfrm>
            <a:off x="9097458" y="13733085"/>
            <a:ext cx="5659861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altLang="ko-KR" sz="3400" dirty="0"/>
              <a:t>Dynamic Order Templates (</a:t>
            </a:r>
            <a:r>
              <a:rPr lang="en-US" altLang="ko-KR" sz="3400" i="1" dirty="0"/>
              <a:t>DOT</a:t>
            </a:r>
            <a:r>
              <a:rPr lang="en-US" altLang="ko-KR" sz="3400" dirty="0"/>
              <a:t>) </a:t>
            </a:r>
            <a:r>
              <a:rPr lang="en-US" altLang="ko-KR" sz="3400" b="1" u="sng" dirty="0"/>
              <a:t>choose only the views each sentence needs</a:t>
            </a:r>
            <a:r>
              <a:rPr lang="en-US" altLang="ko-KR" sz="3400" dirty="0"/>
              <a:t> via entropy.</a:t>
            </a:r>
          </a:p>
        </p:txBody>
      </p:sp>
      <p:sp>
        <p:nvSpPr>
          <p:cNvPr id="71" name="직사각형 104">
            <a:extLst>
              <a:ext uri="{FF2B5EF4-FFF2-40B4-BE49-F238E27FC236}">
                <a16:creationId xmlns:a16="http://schemas.microsoft.com/office/drawing/2014/main" id="{EED082B6-B5C7-F343-C0B9-E808E5C3A82C}"/>
              </a:ext>
            </a:extLst>
          </p:cNvPr>
          <p:cNvSpPr/>
          <p:nvPr/>
        </p:nvSpPr>
        <p:spPr>
          <a:xfrm>
            <a:off x="9091315" y="10404893"/>
            <a:ext cx="5442844" cy="241604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buFont typeface="Arial" panose="020B0604020202020204" pitchFamily="34" charset="0"/>
              <a:buChar char="•"/>
            </a:pPr>
            <a:endParaRPr lang="en-US" altLang="ko-KR" sz="1500" dirty="0"/>
          </a:p>
          <a:p>
            <a:pPr marL="571500" indent="-571500" algn="just">
              <a:buFont typeface="Arial" panose="020B0604020202020204" pitchFamily="34" charset="0"/>
              <a:buChar char="•"/>
            </a:pPr>
            <a:r>
              <a:rPr lang="en-US" altLang="ko-KR" sz="3400" dirty="0"/>
              <a:t>Multi view prompting (</a:t>
            </a:r>
            <a:r>
              <a:rPr lang="en-US" altLang="ko-KR" sz="3400" i="1" dirty="0" err="1"/>
              <a:t>MvP</a:t>
            </a:r>
            <a:r>
              <a:rPr lang="en-US" altLang="ko-KR" sz="3400" dirty="0"/>
              <a:t>) ensembles many orders ⇒ </a:t>
            </a:r>
            <a:r>
              <a:rPr lang="en-US" altLang="ko-KR" sz="3400" u="sng" dirty="0"/>
              <a:t>high latency</a:t>
            </a:r>
            <a:r>
              <a:rPr lang="en-US" altLang="ko-KR" sz="3400" dirty="0"/>
              <a:t> &amp; </a:t>
            </a:r>
            <a:r>
              <a:rPr lang="en-US" altLang="ko-KR" sz="3400" u="sng" dirty="0"/>
              <a:t>domain specific</a:t>
            </a:r>
            <a:r>
              <a:rPr lang="en-US" altLang="ko-KR" sz="3400" dirty="0"/>
              <a:t> tuning.</a:t>
            </a:r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EDD2002E-29BC-75E6-2A79-0EEC60670108}"/>
              </a:ext>
            </a:extLst>
          </p:cNvPr>
          <p:cNvGrpSpPr/>
          <p:nvPr/>
        </p:nvGrpSpPr>
        <p:grpSpPr>
          <a:xfrm>
            <a:off x="543821" y="33105562"/>
            <a:ext cx="14404405" cy="983825"/>
            <a:chOff x="445835" y="14974179"/>
            <a:chExt cx="14404405" cy="983825"/>
          </a:xfrm>
        </p:grpSpPr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E29D2328-3798-1B43-6ADE-CFE5EA5811FC}"/>
                </a:ext>
              </a:extLst>
            </p:cNvPr>
            <p:cNvSpPr/>
            <p:nvPr/>
          </p:nvSpPr>
          <p:spPr>
            <a:xfrm>
              <a:off x="448640" y="14974179"/>
              <a:ext cx="14401600" cy="98382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ko-KR" sz="5400" b="1" dirty="0">
                  <a:solidFill>
                    <a:schemeClr val="tx1"/>
                  </a:solidFill>
                  <a:latin typeface="Helvetica" panose="020B0500000000000000" pitchFamily="34" charset="0"/>
                  <a:ea typeface="아리따-부리(OTF)-Bold" panose="02020603020101020101" pitchFamily="18" charset="-127"/>
                  <a:cs typeface="Arial" pitchFamily="34" charset="0"/>
                </a:rPr>
                <a:t> Main Results</a:t>
              </a:r>
              <a:endParaRPr lang="ko-KR" altLang="en-US" sz="5400" b="1" dirty="0">
                <a:solidFill>
                  <a:schemeClr val="tx1"/>
                </a:solidFill>
                <a:latin typeface="Helvetica" panose="020B0500000000000000" pitchFamily="34" charset="0"/>
                <a:ea typeface="아리따-부리(OTF)-Bold" panose="02020603020101020101" pitchFamily="18" charset="-127"/>
                <a:cs typeface="Arial" pitchFamily="34" charset="0"/>
              </a:endParaRPr>
            </a:p>
          </p:txBody>
        </p: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1E49AE2D-F515-F02E-7255-759A35055ECC}"/>
                </a:ext>
              </a:extLst>
            </p:cNvPr>
            <p:cNvCxnSpPr/>
            <p:nvPr/>
          </p:nvCxnSpPr>
          <p:spPr>
            <a:xfrm>
              <a:off x="445835" y="15935266"/>
              <a:ext cx="13681520" cy="15030"/>
            </a:xfrm>
            <a:prstGeom prst="line">
              <a:avLst/>
            </a:prstGeom>
            <a:ln w="57150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8" name="그림 87">
            <a:extLst>
              <a:ext uri="{FF2B5EF4-FFF2-40B4-BE49-F238E27FC236}">
                <a16:creationId xmlns:a16="http://schemas.microsoft.com/office/drawing/2014/main" id="{9A5129A1-6E5F-08B4-DEA5-FFD75E4934A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2678"/>
          <a:stretch>
            <a:fillRect/>
          </a:stretch>
        </p:blipFill>
        <p:spPr>
          <a:xfrm>
            <a:off x="1099301" y="34185682"/>
            <a:ext cx="12767862" cy="6134920"/>
          </a:xfrm>
          <a:prstGeom prst="rect">
            <a:avLst/>
          </a:prstGeom>
        </p:spPr>
      </p:pic>
      <p:sp>
        <p:nvSpPr>
          <p:cNvPr id="91" name="직사각형 104">
            <a:extLst>
              <a:ext uri="{FF2B5EF4-FFF2-40B4-BE49-F238E27FC236}">
                <a16:creationId xmlns:a16="http://schemas.microsoft.com/office/drawing/2014/main" id="{8683101D-CCB1-0065-AA5A-A7CE5A5A34EB}"/>
              </a:ext>
            </a:extLst>
          </p:cNvPr>
          <p:cNvSpPr/>
          <p:nvPr/>
        </p:nvSpPr>
        <p:spPr>
          <a:xfrm>
            <a:off x="538145" y="40558390"/>
            <a:ext cx="13477760" cy="18928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3400" b="1" u="sng" dirty="0"/>
              <a:t>Accuracy:</a:t>
            </a:r>
            <a:r>
              <a:rPr lang="en-US" altLang="ko-KR" sz="3400" dirty="0"/>
              <a:t> #1 on 5 benchmarks, #2 on 3 → shows </a:t>
            </a:r>
            <a:r>
              <a:rPr lang="en-US" altLang="ko-KR" sz="3400" b="1" u="sng" dirty="0"/>
              <a:t>two stage specialization works</a:t>
            </a:r>
            <a:r>
              <a:rPr lang="en-US" altLang="ko-KR" sz="34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altLang="ko-KR" sz="15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ko-KR" sz="3400" b="1" u="sng" dirty="0"/>
              <a:t>Speed:</a:t>
            </a:r>
            <a:r>
              <a:rPr lang="en-US" altLang="ko-KR" sz="3400" dirty="0"/>
              <a:t> </a:t>
            </a:r>
            <a:r>
              <a:rPr lang="en-US" altLang="ko-KR" sz="3400" b="1" u="sng" dirty="0"/>
              <a:t>7× faster</a:t>
            </a:r>
            <a:r>
              <a:rPr lang="en-US" altLang="ko-KR" sz="3400" dirty="0"/>
              <a:t> than static multi-view (</a:t>
            </a:r>
            <a:r>
              <a:rPr lang="en-US" altLang="ko-KR" sz="3400" dirty="0" err="1"/>
              <a:t>MvP</a:t>
            </a:r>
            <a:r>
              <a:rPr lang="en-US" altLang="ko-KR" sz="3400" dirty="0"/>
              <a:t>) method.</a:t>
            </a:r>
          </a:p>
        </p:txBody>
      </p:sp>
      <p:pic>
        <p:nvPicPr>
          <p:cNvPr id="93" name="그림 92">
            <a:extLst>
              <a:ext uri="{FF2B5EF4-FFF2-40B4-BE49-F238E27FC236}">
                <a16:creationId xmlns:a16="http://schemas.microsoft.com/office/drawing/2014/main" id="{EF3E8331-332B-565A-F766-2CA8EE8D3B25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t="5625"/>
          <a:stretch>
            <a:fillRect/>
          </a:stretch>
        </p:blipFill>
        <p:spPr>
          <a:xfrm>
            <a:off x="17717721" y="7589704"/>
            <a:ext cx="9696971" cy="4200689"/>
          </a:xfrm>
          <a:prstGeom prst="rect">
            <a:avLst/>
          </a:prstGeom>
        </p:spPr>
      </p:pic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4A36E992-A6CF-4942-5638-87990C83CFB4}"/>
              </a:ext>
            </a:extLst>
          </p:cNvPr>
          <p:cNvGrpSpPr/>
          <p:nvPr/>
        </p:nvGrpSpPr>
        <p:grpSpPr>
          <a:xfrm>
            <a:off x="15403583" y="13663402"/>
            <a:ext cx="14492278" cy="13380133"/>
            <a:chOff x="15403583" y="13483382"/>
            <a:chExt cx="14492278" cy="13380133"/>
          </a:xfrm>
        </p:grpSpPr>
        <p:sp>
          <p:nvSpPr>
            <p:cNvPr id="44" name="직사각형 104">
              <a:extLst>
                <a:ext uri="{FF2B5EF4-FFF2-40B4-BE49-F238E27FC236}">
                  <a16:creationId xmlns:a16="http://schemas.microsoft.com/office/drawing/2014/main" id="{D9FF86F2-7711-CAE3-6011-62D4BCF46C76}"/>
                </a:ext>
              </a:extLst>
            </p:cNvPr>
            <p:cNvSpPr/>
            <p:nvPr/>
          </p:nvSpPr>
          <p:spPr>
            <a:xfrm>
              <a:off x="15417992" y="20155265"/>
              <a:ext cx="14477869" cy="136960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indent="-457200" algn="just">
                <a:buFont typeface="Arial" panose="020B0604020202020204" pitchFamily="34" charset="0"/>
                <a:buChar char="•"/>
              </a:pPr>
              <a:r>
                <a:rPr lang="en-US" altLang="ko-KR" sz="3400" b="1" u="sng" dirty="0"/>
                <a:t>F1 score for model scale</a:t>
              </a:r>
              <a:r>
                <a:rPr kumimoji="0" lang="en-US" altLang="ko-KR" sz="3400" b="1" i="0" u="sng" strike="noStrike" cap="none" normalizeH="0" baseline="0" dirty="0">
                  <a:ln>
                    <a:noFill/>
                  </a:ln>
                  <a:effectLst/>
                </a:rPr>
                <a:t>: </a:t>
              </a:r>
              <a:r>
                <a:rPr kumimoji="0" lang="en-US" altLang="ko-KR" sz="3400" i="0" strike="noStrike" cap="none" normalizeH="0" baseline="0" dirty="0">
                  <a:ln>
                    <a:noFill/>
                  </a:ln>
                  <a:effectLst/>
                </a:rPr>
                <a:t>T5-small &lt; T5-base &lt; T5-large</a:t>
              </a:r>
            </a:p>
            <a:p>
              <a:pPr marL="457200" indent="-457200" algn="just">
                <a:buFont typeface="Arial" panose="020B0604020202020204" pitchFamily="34" charset="0"/>
                <a:buChar char="•"/>
              </a:pPr>
              <a:endParaRPr kumimoji="0" lang="en-US" altLang="ko-KR" sz="1500" i="0" strike="noStrike" cap="none" normalizeH="0" baseline="0" dirty="0">
                <a:ln>
                  <a:noFill/>
                </a:ln>
                <a:effectLst/>
              </a:endParaRPr>
            </a:p>
            <a:p>
              <a:pPr marL="457200" indent="-457200" algn="just">
                <a:buFont typeface="Arial" panose="020B0604020202020204" pitchFamily="34" charset="0"/>
                <a:buChar char="•"/>
              </a:pPr>
              <a:r>
                <a:rPr kumimoji="0" lang="en-US" altLang="ko-KR" sz="3400" b="1" i="0" u="sng" strike="noStrike" cap="none" normalizeH="0" baseline="0" dirty="0">
                  <a:ln>
                    <a:noFill/>
                  </a:ln>
                  <a:effectLst/>
                </a:rPr>
                <a:t>T5 base</a:t>
              </a:r>
              <a:r>
                <a:rPr kumimoji="0" lang="en-US" altLang="ko-KR" sz="3400" i="0" strike="noStrike" cap="none" normalizeH="0" baseline="0" dirty="0">
                  <a:ln>
                    <a:noFill/>
                  </a:ln>
                  <a:effectLst/>
                </a:rPr>
                <a:t> is the best acc/latency balance.</a:t>
              </a:r>
              <a:endParaRPr kumimoji="0" lang="en-US" altLang="ko-KR" sz="1500" i="0" strike="noStrike" cap="none" normalizeH="0" baseline="0" dirty="0">
                <a:ln>
                  <a:noFill/>
                </a:ln>
                <a:effectLst/>
              </a:endParaRPr>
            </a:p>
          </p:txBody>
        </p:sp>
        <p:grpSp>
          <p:nvGrpSpPr>
            <p:cNvPr id="2" name="그룹 63">
              <a:extLst>
                <a:ext uri="{FF2B5EF4-FFF2-40B4-BE49-F238E27FC236}">
                  <a16:creationId xmlns:a16="http://schemas.microsoft.com/office/drawing/2014/main" id="{5E3C688A-E7EA-9393-2D65-2BB2E7A8E175}"/>
                </a:ext>
              </a:extLst>
            </p:cNvPr>
            <p:cNvGrpSpPr/>
            <p:nvPr/>
          </p:nvGrpSpPr>
          <p:grpSpPr>
            <a:xfrm>
              <a:off x="15587173" y="13483382"/>
              <a:ext cx="14200168" cy="1026392"/>
              <a:chOff x="15923169" y="9738966"/>
              <a:chExt cx="13690427" cy="1026392"/>
            </a:xfrm>
          </p:grpSpPr>
          <p:sp>
            <p:nvSpPr>
              <p:cNvPr id="4" name="직사각형 64">
                <a:extLst>
                  <a:ext uri="{FF2B5EF4-FFF2-40B4-BE49-F238E27FC236}">
                    <a16:creationId xmlns:a16="http://schemas.microsoft.com/office/drawing/2014/main" id="{C63F1D95-C1B5-0A81-2A80-AC3ECAD9F0A3}"/>
                  </a:ext>
                </a:extLst>
              </p:cNvPr>
              <p:cNvSpPr/>
              <p:nvPr/>
            </p:nvSpPr>
            <p:spPr>
              <a:xfrm>
                <a:off x="16037842" y="9738966"/>
                <a:ext cx="13575754" cy="1026392"/>
              </a:xfrm>
              <a:prstGeom prst="rect">
                <a:avLst/>
              </a:prstGeom>
              <a:solidFill>
                <a:schemeClr val="bg1">
                  <a:alpha val="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altLang="ko-KR" sz="5400" b="1" dirty="0">
                    <a:solidFill>
                      <a:schemeClr val="tx1"/>
                    </a:solidFill>
                    <a:latin typeface="Helvetica" panose="020B0500000000000000" pitchFamily="34" charset="0"/>
                    <a:ea typeface="아리따-부리(OTF)-Bold" panose="02020603020101020101" pitchFamily="18" charset="-127"/>
                    <a:cs typeface="Arial" pitchFamily="34" charset="0"/>
                  </a:rPr>
                  <a:t>Analysis</a:t>
                </a:r>
                <a:endParaRPr lang="ko-KR" altLang="en-US" sz="5400" b="1" dirty="0">
                  <a:solidFill>
                    <a:schemeClr val="tx1"/>
                  </a:solidFill>
                  <a:latin typeface="Helvetica" panose="020B0500000000000000" pitchFamily="34" charset="0"/>
                  <a:ea typeface="아리따-부리(OTF)-Bold" panose="02020603020101020101" pitchFamily="18" charset="-127"/>
                  <a:cs typeface="Arial" pitchFamily="34" charset="0"/>
                </a:endParaRPr>
              </a:p>
            </p:txBody>
          </p:sp>
          <p:cxnSp>
            <p:nvCxnSpPr>
              <p:cNvPr id="6" name="직선 연결선 40">
                <a:extLst>
                  <a:ext uri="{FF2B5EF4-FFF2-40B4-BE49-F238E27FC236}">
                    <a16:creationId xmlns:a16="http://schemas.microsoft.com/office/drawing/2014/main" id="{18F92EF5-6357-9C94-2238-873A26736F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923169" y="10719553"/>
                <a:ext cx="13151064" cy="18268"/>
              </a:xfrm>
              <a:prstGeom prst="line">
                <a:avLst/>
              </a:prstGeom>
              <a:ln w="57150">
                <a:solidFill>
                  <a:schemeClr val="tx1">
                    <a:lumMod val="50000"/>
                    <a:lumOff val="50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B16B77FC-9863-97F7-F44B-F550F972FAD6}"/>
                </a:ext>
              </a:extLst>
            </p:cNvPr>
            <p:cNvGrpSpPr/>
            <p:nvPr/>
          </p:nvGrpSpPr>
          <p:grpSpPr>
            <a:xfrm>
              <a:off x="16903980" y="15078755"/>
              <a:ext cx="10966311" cy="5062862"/>
              <a:chOff x="15905936" y="14959546"/>
              <a:chExt cx="7192380" cy="3320536"/>
            </a:xfrm>
          </p:grpSpPr>
          <p:pic>
            <p:nvPicPr>
              <p:cNvPr id="100" name="그림 99">
                <a:extLst>
                  <a:ext uri="{FF2B5EF4-FFF2-40B4-BE49-F238E27FC236}">
                    <a16:creationId xmlns:a16="http://schemas.microsoft.com/office/drawing/2014/main" id="{C97D7705-9B32-C201-7EEF-16CC41F1CF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rcRect l="10" t="1738" r="-10" b="44913"/>
              <a:stretch>
                <a:fillRect/>
              </a:stretch>
            </p:blipFill>
            <p:spPr>
              <a:xfrm>
                <a:off x="15905937" y="14959546"/>
                <a:ext cx="7192379" cy="2808312"/>
              </a:xfrm>
              <a:prstGeom prst="rect">
                <a:avLst/>
              </a:prstGeom>
            </p:spPr>
          </p:pic>
          <p:pic>
            <p:nvPicPr>
              <p:cNvPr id="101" name="그림 100">
                <a:extLst>
                  <a:ext uri="{FF2B5EF4-FFF2-40B4-BE49-F238E27FC236}">
                    <a16:creationId xmlns:a16="http://schemas.microsoft.com/office/drawing/2014/main" id="{885F9F40-B45D-352A-1929-0AA7AC27B6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rcRect t="90277"/>
              <a:stretch>
                <a:fillRect/>
              </a:stretch>
            </p:blipFill>
            <p:spPr>
              <a:xfrm>
                <a:off x="15905936" y="17767858"/>
                <a:ext cx="7192379" cy="512224"/>
              </a:xfrm>
              <a:prstGeom prst="rect">
                <a:avLst/>
              </a:prstGeom>
            </p:spPr>
          </p:pic>
        </p:grpSp>
        <p:grpSp>
          <p:nvGrpSpPr>
            <p:cNvPr id="104" name="그룹 103">
              <a:extLst>
                <a:ext uri="{FF2B5EF4-FFF2-40B4-BE49-F238E27FC236}">
                  <a16:creationId xmlns:a16="http://schemas.microsoft.com/office/drawing/2014/main" id="{7DD0CBA3-7C40-CB91-7D3B-6DEC4D682FB4}"/>
                </a:ext>
              </a:extLst>
            </p:cNvPr>
            <p:cNvGrpSpPr/>
            <p:nvPr/>
          </p:nvGrpSpPr>
          <p:grpSpPr>
            <a:xfrm>
              <a:off x="17262422" y="21584282"/>
              <a:ext cx="9979517" cy="3965502"/>
              <a:chOff x="17717721" y="23005235"/>
              <a:chExt cx="9364616" cy="3721162"/>
            </a:xfrm>
          </p:grpSpPr>
          <p:pic>
            <p:nvPicPr>
              <p:cNvPr id="98" name="그림 97">
                <a:extLst>
                  <a:ext uri="{FF2B5EF4-FFF2-40B4-BE49-F238E27FC236}">
                    <a16:creationId xmlns:a16="http://schemas.microsoft.com/office/drawing/2014/main" id="{38817D32-1D26-4802-9E3D-DCA6C53EAB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rcRect t="48495"/>
              <a:stretch>
                <a:fillRect/>
              </a:stretch>
            </p:blipFill>
            <p:spPr>
              <a:xfrm>
                <a:off x="17717721" y="24607242"/>
                <a:ext cx="9349611" cy="2119155"/>
              </a:xfrm>
              <a:prstGeom prst="rect">
                <a:avLst/>
              </a:prstGeom>
            </p:spPr>
          </p:pic>
          <p:pic>
            <p:nvPicPr>
              <p:cNvPr id="103" name="그림 102">
                <a:extLst>
                  <a:ext uri="{FF2B5EF4-FFF2-40B4-BE49-F238E27FC236}">
                    <a16:creationId xmlns:a16="http://schemas.microsoft.com/office/drawing/2014/main" id="{2C833389-5D95-03D4-2DD8-13285032AB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rcRect b="62557"/>
              <a:stretch>
                <a:fillRect/>
              </a:stretch>
            </p:blipFill>
            <p:spPr>
              <a:xfrm>
                <a:off x="17732726" y="23005235"/>
                <a:ext cx="9349611" cy="1540570"/>
              </a:xfrm>
              <a:prstGeom prst="rect">
                <a:avLst/>
              </a:prstGeom>
            </p:spPr>
          </p:pic>
        </p:grpSp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052FCACF-1535-9E09-9DA5-2E57014BBE9F}"/>
                </a:ext>
              </a:extLst>
            </p:cNvPr>
            <p:cNvSpPr/>
            <p:nvPr/>
          </p:nvSpPr>
          <p:spPr>
            <a:xfrm>
              <a:off x="15403583" y="25724742"/>
              <a:ext cx="13663332" cy="11387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indent="-457200" algn="just">
                <a:buFont typeface="Arial" panose="020B0604020202020204" pitchFamily="34" charset="0"/>
                <a:buChar char="•"/>
              </a:pPr>
              <a:r>
                <a:rPr lang="en-US" altLang="ko-KR" sz="3400" b="1" u="sng" dirty="0"/>
                <a:t>Ablation Study:</a:t>
              </a:r>
              <a:r>
                <a:rPr lang="en-US" altLang="ko-KR" sz="3400" dirty="0"/>
                <a:t> Our full model outperforms all ablated settings, demonstrating that </a:t>
              </a:r>
              <a:r>
                <a:rPr lang="en-US" altLang="ko-KR" sz="3400" b="1" u="sng" dirty="0"/>
                <a:t>each component of our design is essential. </a:t>
              </a:r>
              <a:endParaRPr kumimoji="0" lang="en-US" altLang="ko-KR" sz="1500" b="1" i="0" u="sng" strike="noStrike" cap="none" normalizeH="0" baseline="0" dirty="0">
                <a:ln>
                  <a:noFill/>
                </a:ln>
                <a:effectLst/>
              </a:endParaRPr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15DEBFE9-23E3-2F7D-60B7-69AFF77A3815}"/>
              </a:ext>
            </a:extLst>
          </p:cNvPr>
          <p:cNvGrpSpPr/>
          <p:nvPr/>
        </p:nvGrpSpPr>
        <p:grpSpPr>
          <a:xfrm>
            <a:off x="15437448" y="27632954"/>
            <a:ext cx="14349891" cy="10765196"/>
            <a:chOff x="15437448" y="27812974"/>
            <a:chExt cx="14349891" cy="10765196"/>
          </a:xfrm>
        </p:grpSpPr>
        <p:grpSp>
          <p:nvGrpSpPr>
            <p:cNvPr id="81" name="그룹 80">
              <a:extLst>
                <a:ext uri="{FF2B5EF4-FFF2-40B4-BE49-F238E27FC236}">
                  <a16:creationId xmlns:a16="http://schemas.microsoft.com/office/drawing/2014/main" id="{B9DE560C-4E74-97E5-82EE-C3CFAF1B2B6C}"/>
                </a:ext>
              </a:extLst>
            </p:cNvPr>
            <p:cNvGrpSpPr/>
            <p:nvPr/>
          </p:nvGrpSpPr>
          <p:grpSpPr>
            <a:xfrm>
              <a:off x="15437448" y="27812974"/>
              <a:ext cx="14349891" cy="10765196"/>
              <a:chOff x="15437448" y="30198283"/>
              <a:chExt cx="14349891" cy="10765196"/>
            </a:xfrm>
          </p:grpSpPr>
          <p:grpSp>
            <p:nvGrpSpPr>
              <p:cNvPr id="34" name="그룹 63">
                <a:extLst>
                  <a:ext uri="{FF2B5EF4-FFF2-40B4-BE49-F238E27FC236}">
                    <a16:creationId xmlns:a16="http://schemas.microsoft.com/office/drawing/2014/main" id="{328DEA18-3C72-5B69-9605-6C853FC3C44C}"/>
                  </a:ext>
                </a:extLst>
              </p:cNvPr>
              <p:cNvGrpSpPr/>
              <p:nvPr/>
            </p:nvGrpSpPr>
            <p:grpSpPr>
              <a:xfrm>
                <a:off x="15587171" y="30198283"/>
                <a:ext cx="14200168" cy="1026392"/>
                <a:chOff x="15923169" y="9594950"/>
                <a:chExt cx="13690427" cy="1026392"/>
              </a:xfrm>
            </p:grpSpPr>
            <p:sp>
              <p:nvSpPr>
                <p:cNvPr id="36" name="직사각형 64">
                  <a:extLst>
                    <a:ext uri="{FF2B5EF4-FFF2-40B4-BE49-F238E27FC236}">
                      <a16:creationId xmlns:a16="http://schemas.microsoft.com/office/drawing/2014/main" id="{087CD140-67F4-7A4F-D7B8-A778A455307A}"/>
                    </a:ext>
                  </a:extLst>
                </p:cNvPr>
                <p:cNvSpPr/>
                <p:nvPr/>
              </p:nvSpPr>
              <p:spPr>
                <a:xfrm>
                  <a:off x="16037842" y="9594950"/>
                  <a:ext cx="13575754" cy="1026392"/>
                </a:xfrm>
                <a:prstGeom prst="rect">
                  <a:avLst/>
                </a:prstGeom>
                <a:solidFill>
                  <a:schemeClr val="bg1">
                    <a:alpha val="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r>
                    <a:rPr lang="en-US" altLang="ko-KR" sz="5400" b="1" dirty="0">
                      <a:solidFill>
                        <a:schemeClr val="tx1"/>
                      </a:solidFill>
                      <a:latin typeface="Helvetica" panose="020B0500000000000000" pitchFamily="34" charset="0"/>
                      <a:ea typeface="아리따-부리(OTF)-Bold" panose="02020603020101020101" pitchFamily="18" charset="-127"/>
                      <a:cs typeface="Arial" pitchFamily="34" charset="0"/>
                    </a:rPr>
                    <a:t>Case</a:t>
                  </a:r>
                  <a:r>
                    <a:rPr lang="ko-KR" altLang="en-US" sz="5400" b="1" dirty="0">
                      <a:solidFill>
                        <a:schemeClr val="tx1"/>
                      </a:solidFill>
                      <a:latin typeface="Helvetica" panose="020B0500000000000000" pitchFamily="34" charset="0"/>
                      <a:ea typeface="아리따-부리(OTF)-Bold" panose="02020603020101020101" pitchFamily="18" charset="-127"/>
                      <a:cs typeface="Arial" pitchFamily="34" charset="0"/>
                    </a:rPr>
                    <a:t> </a:t>
                  </a:r>
                  <a:r>
                    <a:rPr lang="en-US" altLang="ko-KR" sz="5400" b="1" dirty="0">
                      <a:solidFill>
                        <a:schemeClr val="tx1"/>
                      </a:solidFill>
                      <a:latin typeface="Helvetica" panose="020B0500000000000000" pitchFamily="34" charset="0"/>
                      <a:ea typeface="아리따-부리(OTF)-Bold" panose="02020603020101020101" pitchFamily="18" charset="-127"/>
                      <a:cs typeface="Arial" pitchFamily="34" charset="0"/>
                    </a:rPr>
                    <a:t>Study</a:t>
                  </a:r>
                  <a:endParaRPr lang="ko-KR" altLang="en-US" sz="5400" b="1" dirty="0">
                    <a:solidFill>
                      <a:schemeClr val="tx1"/>
                    </a:solidFill>
                    <a:latin typeface="Helvetica" panose="020B0500000000000000" pitchFamily="34" charset="0"/>
                    <a:ea typeface="아리따-부리(OTF)-Bold" panose="02020603020101020101" pitchFamily="18" charset="-127"/>
                    <a:cs typeface="Arial" pitchFamily="34" charset="0"/>
                  </a:endParaRPr>
                </a:p>
              </p:txBody>
            </p:sp>
            <p:cxnSp>
              <p:nvCxnSpPr>
                <p:cNvPr id="37" name="직선 연결선 40">
                  <a:extLst>
                    <a:ext uri="{FF2B5EF4-FFF2-40B4-BE49-F238E27FC236}">
                      <a16:creationId xmlns:a16="http://schemas.microsoft.com/office/drawing/2014/main" id="{A82D5D79-4F76-964E-E696-28D31D5163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15923169" y="10567058"/>
                  <a:ext cx="13151064" cy="18268"/>
                </a:xfrm>
                <a:prstGeom prst="line">
                  <a:avLst/>
                </a:prstGeom>
                <a:ln w="57150">
                  <a:solidFill>
                    <a:schemeClr val="tx1">
                      <a:lumMod val="50000"/>
                      <a:lumOff val="50000"/>
                    </a:schemeClr>
                  </a:solidFill>
                  <a:prstDash val="sysDot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1" name="직사각형 104">
                <a:extLst>
                  <a:ext uri="{FF2B5EF4-FFF2-40B4-BE49-F238E27FC236}">
                    <a16:creationId xmlns:a16="http://schemas.microsoft.com/office/drawing/2014/main" id="{C29CF8A7-B3E7-1DA4-CC5A-924CA80FC96C}"/>
                  </a:ext>
                </a:extLst>
              </p:cNvPr>
              <p:cNvSpPr/>
              <p:nvPr/>
            </p:nvSpPr>
            <p:spPr>
              <a:xfrm>
                <a:off x="15437448" y="39824706"/>
                <a:ext cx="13629466" cy="113877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 algn="just">
                  <a:buFont typeface="Arial" panose="020B0604020202020204" pitchFamily="34" charset="0"/>
                  <a:buChar char="•"/>
                </a:pPr>
                <a:r>
                  <a:rPr lang="en-US" altLang="ko-KR" sz="3400" dirty="0"/>
                  <a:t>First‑stage optimization reduces count errors, but richer view‑selection logic is future work.</a:t>
                </a:r>
                <a:endParaRPr kumimoji="0" lang="en-US" altLang="ko-KR" sz="3400" i="0" strike="noStrike" cap="none" normalizeH="0" baseline="0" dirty="0">
                  <a:ln>
                    <a:noFill/>
                  </a:ln>
                  <a:effectLst/>
                </a:endParaRPr>
              </a:p>
            </p:txBody>
          </p:sp>
        </p:grpSp>
        <p:pic>
          <p:nvPicPr>
            <p:cNvPr id="107" name="그림 106">
              <a:extLst>
                <a:ext uri="{FF2B5EF4-FFF2-40B4-BE49-F238E27FC236}">
                  <a16:creationId xmlns:a16="http://schemas.microsoft.com/office/drawing/2014/main" id="{3EF787E4-E59B-CE1F-CBE7-F40876B89B87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5448199" y="28965102"/>
              <a:ext cx="14020169" cy="8264976"/>
            </a:xfrm>
            <a:prstGeom prst="rect">
              <a:avLst/>
            </a:prstGeom>
          </p:spPr>
        </p:pic>
      </p:grpSp>
      <p:pic>
        <p:nvPicPr>
          <p:cNvPr id="7" name="그래픽 6">
            <a:extLst>
              <a:ext uri="{FF2B5EF4-FFF2-40B4-BE49-F238E27FC236}">
                <a16:creationId xmlns:a16="http://schemas.microsoft.com/office/drawing/2014/main" id="{EDE754B7-83EC-91C5-01CA-A07EBF7F92D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6105184" y="341883"/>
            <a:ext cx="3530210" cy="3530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750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사용자 지정 6">
      <a:majorFont>
        <a:latin typeface="Helvetica"/>
        <a:ea typeface="맑은 고딕"/>
        <a:cs typeface=""/>
      </a:majorFont>
      <a:minorFont>
        <a:latin typeface="Helvetic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3908754369C4A4694B3D2779457A6BE" ma:contentTypeVersion="12" ma:contentTypeDescription="새 문서를 만듭니다." ma:contentTypeScope="" ma:versionID="a84c1093fdd32c5793bd418cf2378b66">
  <xsd:schema xmlns:xsd="http://www.w3.org/2001/XMLSchema" xmlns:xs="http://www.w3.org/2001/XMLSchema" xmlns:p="http://schemas.microsoft.com/office/2006/metadata/properties" xmlns:ns3="a42185cf-9908-4584-8624-9a5eb26fc0b5" xmlns:ns4="c1060163-715a-43b0-b1ad-b4f06a70d354" targetNamespace="http://schemas.microsoft.com/office/2006/metadata/properties" ma:root="true" ma:fieldsID="417654bc6b357da1c095b2514ac55c78" ns3:_="" ns4:_="">
    <xsd:import namespace="a42185cf-9908-4584-8624-9a5eb26fc0b5"/>
    <xsd:import namespace="c1060163-715a-43b0-b1ad-b4f06a70d35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2185cf-9908-4584-8624-9a5eb26fc0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060163-715a-43b0-b1ad-b4f06a70d35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힌트 해시 공유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8C0D1B-B200-4861-899B-C1C38E902C2A}">
  <ds:schemaRefs>
    <ds:schemaRef ds:uri="http://purl.org/dc/terms/"/>
    <ds:schemaRef ds:uri="http://schemas.microsoft.com/office/2006/metadata/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c1060163-715a-43b0-b1ad-b4f06a70d354"/>
    <ds:schemaRef ds:uri="http://purl.org/dc/dcmitype/"/>
    <ds:schemaRef ds:uri="http://schemas.openxmlformats.org/package/2006/metadata/core-properties"/>
    <ds:schemaRef ds:uri="a42185cf-9908-4584-8624-9a5eb26fc0b5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AAFCD2F9-DDDE-4E05-AEBC-994E4E04358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64B319-4C83-4AE7-8EC4-9A97318EF3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42185cf-9908-4584-8624-9a5eb26fc0b5"/>
    <ds:schemaRef ds:uri="c1060163-715a-43b0-b1ad-b4f06a70d35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14504</TotalTime>
  <Words>328</Words>
  <Application>Microsoft Office PowerPoint</Application>
  <PresentationFormat>사용자 지정</PresentationFormat>
  <Paragraphs>62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Arial</vt:lpstr>
      <vt:lpstr>맑은 고딕</vt:lpstr>
      <vt:lpstr>Helvetica</vt:lpstr>
      <vt:lpstr>Wingdings</vt:lpstr>
      <vt:lpstr>Office 테마</vt:lpstr>
      <vt:lpstr>PowerPoint 프레젠테이션</vt:lpstr>
    </vt:vector>
  </TitlesOfParts>
  <Company>KAIST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박건우</dc:creator>
  <cp:lastModifiedBy>전용현</cp:lastModifiedBy>
  <cp:revision>436</cp:revision>
  <cp:lastPrinted>2016-05-26T14:02:28Z</cp:lastPrinted>
  <dcterms:created xsi:type="dcterms:W3CDTF">2009-11-25T07:46:39Z</dcterms:created>
  <dcterms:modified xsi:type="dcterms:W3CDTF">2025-07-22T05:20:23Z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0x01010043908754369C4A4694B3D2779457A6BE</vt:lpwstr>
  </property>
</Properties>
</file>