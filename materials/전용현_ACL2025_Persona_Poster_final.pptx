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sldIdLst>
    <p:sldId id="259" r:id="rId5"/>
  </p:sldIdLst>
  <p:sldSz cx="30279975" cy="42808525"/>
  <p:notesSz cx="6797675" cy="9926638"/>
  <p:embeddedFontLst>
    <p:embeddedFont>
      <p:font typeface="Helvetica" panose="020B0500000000000000"/>
      <p:regular r:id="rId7"/>
      <p:bold r:id="rId8"/>
      <p:italic r:id="rId9"/>
      <p:boldItalic r:id="rId10"/>
    </p:embeddedFont>
    <p:embeddedFont>
      <p:font typeface="맑은 고딕" panose="020B0503020000020004" pitchFamily="50" charset="-127"/>
      <p:regular r:id="rId11"/>
      <p:bold r:id="rId12"/>
    </p:embeddedFont>
  </p:embeddedFontLst>
  <p:defaultTextStyle>
    <a:defPPr>
      <a:defRPr lang="ko-KR"/>
    </a:defPPr>
    <a:lvl1pPr marL="0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8211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6421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4632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52842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41054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9264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7475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705685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81" userDrawn="1">
          <p15:clr>
            <a:srgbClr val="A4A3A4"/>
          </p15:clr>
        </p15:guide>
        <p15:guide id="2" orient="horz" pos="22986" userDrawn="1">
          <p15:clr>
            <a:srgbClr val="A4A3A4"/>
          </p15:clr>
        </p15:guide>
        <p15:guide id="3" pos="465" userDrawn="1">
          <p15:clr>
            <a:srgbClr val="A4A3A4"/>
          </p15:clr>
        </p15:guide>
        <p15:guide id="4" pos="89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9966FF"/>
    <a:srgbClr val="51A7F9"/>
    <a:srgbClr val="33CCCC"/>
    <a:srgbClr val="5EA9DD"/>
    <a:srgbClr val="E5F3F7"/>
    <a:srgbClr val="FF33CC"/>
    <a:srgbClr val="FF5050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 autoAdjust="0"/>
    <p:restoredTop sz="96197" autoAdjust="0"/>
  </p:normalViewPr>
  <p:slideViewPr>
    <p:cSldViewPr showGuides="1">
      <p:cViewPr>
        <p:scale>
          <a:sx n="25" d="100"/>
          <a:sy n="25" d="100"/>
        </p:scale>
        <p:origin x="2556" y="-620"/>
      </p:cViewPr>
      <p:guideLst>
        <p:guide orient="horz" pos="3481"/>
        <p:guide orient="horz" pos="22986"/>
        <p:guide pos="465"/>
        <p:guide pos="899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A4865D-DAE6-4D8A-BD4B-B6469E961D76}" type="datetimeFigureOut">
              <a:rPr lang="ko-KR" altLang="en-US" smtClean="0"/>
              <a:pPr/>
              <a:t>2025-10-03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01C65-E9E9-4671-876F-6ECEBFA5F0D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2428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64047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28094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92140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56187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320234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84281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248328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712374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01C65-E9E9-4671-876F-6ECEBFA5F0D0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1970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70998" y="13298392"/>
            <a:ext cx="25737979" cy="917608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541996" y="24258165"/>
            <a:ext cx="21195983" cy="1093995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882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64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4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2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410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29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17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05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2025-10-03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2025-10-03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91909" y="27508445"/>
            <a:ext cx="25737979" cy="8502249"/>
          </a:xfrm>
        </p:spPr>
        <p:txBody>
          <a:bodyPr anchor="t"/>
          <a:lstStyle>
            <a:lvl1pPr algn="l">
              <a:defRPr sz="182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391909" y="18144083"/>
            <a:ext cx="25737979" cy="9364361"/>
          </a:xfrm>
        </p:spPr>
        <p:txBody>
          <a:bodyPr anchor="b"/>
          <a:lstStyle>
            <a:lvl1pPr marL="0" indent="0">
              <a:buNone/>
              <a:defRPr sz="9200">
                <a:solidFill>
                  <a:schemeClr val="tx1">
                    <a:tint val="75000"/>
                  </a:schemeClr>
                </a:solidFill>
              </a:defRPr>
            </a:lvl1pPr>
            <a:lvl2pPr marL="2088211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4176421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3pPr>
            <a:lvl4pPr marL="6264632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8352842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10441054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2529264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4617475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6705685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2025-10-03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513999" y="9988658"/>
            <a:ext cx="13373655" cy="28251648"/>
          </a:xfrm>
        </p:spPr>
        <p:txBody>
          <a:bodyPr/>
          <a:lstStyle>
            <a:lvl1pPr>
              <a:defRPr sz="12700"/>
            </a:lvl1pPr>
            <a:lvl2pPr>
              <a:defRPr sz="10900"/>
            </a:lvl2pPr>
            <a:lvl3pPr>
              <a:defRPr sz="92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392321" y="9988658"/>
            <a:ext cx="13373655" cy="28251648"/>
          </a:xfrm>
        </p:spPr>
        <p:txBody>
          <a:bodyPr/>
          <a:lstStyle>
            <a:lvl1pPr>
              <a:defRPr sz="12700"/>
            </a:lvl1pPr>
            <a:lvl2pPr>
              <a:defRPr sz="10900"/>
            </a:lvl2pPr>
            <a:lvl3pPr>
              <a:defRPr sz="92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2025-10-03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4000" y="9582376"/>
            <a:ext cx="13378914" cy="3993477"/>
          </a:xfrm>
        </p:spPr>
        <p:txBody>
          <a:bodyPr anchor="b"/>
          <a:lstStyle>
            <a:lvl1pPr marL="0" indent="0">
              <a:buNone/>
              <a:defRPr sz="10900" b="1"/>
            </a:lvl1pPr>
            <a:lvl2pPr marL="2088211" indent="0">
              <a:buNone/>
              <a:defRPr sz="9200" b="1"/>
            </a:lvl2pPr>
            <a:lvl3pPr marL="4176421" indent="0">
              <a:buNone/>
              <a:defRPr sz="8200" b="1"/>
            </a:lvl3pPr>
            <a:lvl4pPr marL="6264632" indent="0">
              <a:buNone/>
              <a:defRPr sz="7400" b="1"/>
            </a:lvl4pPr>
            <a:lvl5pPr marL="8352842" indent="0">
              <a:buNone/>
              <a:defRPr sz="7400" b="1"/>
            </a:lvl5pPr>
            <a:lvl6pPr marL="10441054" indent="0">
              <a:buNone/>
              <a:defRPr sz="7400" b="1"/>
            </a:lvl6pPr>
            <a:lvl7pPr marL="12529264" indent="0">
              <a:buNone/>
              <a:defRPr sz="7400" b="1"/>
            </a:lvl7pPr>
            <a:lvl8pPr marL="14617475" indent="0">
              <a:buNone/>
              <a:defRPr sz="7400" b="1"/>
            </a:lvl8pPr>
            <a:lvl9pPr marL="16705685" indent="0">
              <a:buNone/>
              <a:defRPr sz="74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14000" y="13575853"/>
            <a:ext cx="13378914" cy="24664452"/>
          </a:xfrm>
        </p:spPr>
        <p:txBody>
          <a:bodyPr/>
          <a:lstStyle>
            <a:lvl1pPr>
              <a:defRPr sz="10900"/>
            </a:lvl1pPr>
            <a:lvl2pPr>
              <a:defRPr sz="9200"/>
            </a:lvl2pPr>
            <a:lvl3pPr>
              <a:defRPr sz="8200"/>
            </a:lvl3pPr>
            <a:lvl4pPr>
              <a:defRPr sz="7400"/>
            </a:lvl4pPr>
            <a:lvl5pPr>
              <a:defRPr sz="7400"/>
            </a:lvl5pPr>
            <a:lvl6pPr>
              <a:defRPr sz="7400"/>
            </a:lvl6pPr>
            <a:lvl7pPr>
              <a:defRPr sz="7400"/>
            </a:lvl7pPr>
            <a:lvl8pPr>
              <a:defRPr sz="7400"/>
            </a:lvl8pPr>
            <a:lvl9pPr>
              <a:defRPr sz="7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5381810" y="9582376"/>
            <a:ext cx="13384170" cy="3993477"/>
          </a:xfrm>
        </p:spPr>
        <p:txBody>
          <a:bodyPr anchor="b"/>
          <a:lstStyle>
            <a:lvl1pPr marL="0" indent="0">
              <a:buNone/>
              <a:defRPr sz="10900" b="1"/>
            </a:lvl1pPr>
            <a:lvl2pPr marL="2088211" indent="0">
              <a:buNone/>
              <a:defRPr sz="9200" b="1"/>
            </a:lvl2pPr>
            <a:lvl3pPr marL="4176421" indent="0">
              <a:buNone/>
              <a:defRPr sz="8200" b="1"/>
            </a:lvl3pPr>
            <a:lvl4pPr marL="6264632" indent="0">
              <a:buNone/>
              <a:defRPr sz="7400" b="1"/>
            </a:lvl4pPr>
            <a:lvl5pPr marL="8352842" indent="0">
              <a:buNone/>
              <a:defRPr sz="7400" b="1"/>
            </a:lvl5pPr>
            <a:lvl6pPr marL="10441054" indent="0">
              <a:buNone/>
              <a:defRPr sz="7400" b="1"/>
            </a:lvl6pPr>
            <a:lvl7pPr marL="12529264" indent="0">
              <a:buNone/>
              <a:defRPr sz="7400" b="1"/>
            </a:lvl7pPr>
            <a:lvl8pPr marL="14617475" indent="0">
              <a:buNone/>
              <a:defRPr sz="7400" b="1"/>
            </a:lvl8pPr>
            <a:lvl9pPr marL="16705685" indent="0">
              <a:buNone/>
              <a:defRPr sz="74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5381810" y="13575853"/>
            <a:ext cx="13384170" cy="24664452"/>
          </a:xfrm>
        </p:spPr>
        <p:txBody>
          <a:bodyPr/>
          <a:lstStyle>
            <a:lvl1pPr>
              <a:defRPr sz="10900"/>
            </a:lvl1pPr>
            <a:lvl2pPr>
              <a:defRPr sz="9200"/>
            </a:lvl2pPr>
            <a:lvl3pPr>
              <a:defRPr sz="8200"/>
            </a:lvl3pPr>
            <a:lvl4pPr>
              <a:defRPr sz="7400"/>
            </a:lvl4pPr>
            <a:lvl5pPr>
              <a:defRPr sz="7400"/>
            </a:lvl5pPr>
            <a:lvl6pPr>
              <a:defRPr sz="7400"/>
            </a:lvl6pPr>
            <a:lvl7pPr>
              <a:defRPr sz="7400"/>
            </a:lvl7pPr>
            <a:lvl8pPr>
              <a:defRPr sz="7400"/>
            </a:lvl8pPr>
            <a:lvl9pPr>
              <a:defRPr sz="7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2025-10-03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2025-10-03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2025-10-03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14000" y="1704414"/>
            <a:ext cx="9961903" cy="7253667"/>
          </a:xfrm>
        </p:spPr>
        <p:txBody>
          <a:bodyPr anchor="b"/>
          <a:lstStyle>
            <a:lvl1pPr algn="l">
              <a:defRPr sz="92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838630" y="1704416"/>
            <a:ext cx="16927347" cy="36535890"/>
          </a:xfrm>
        </p:spPr>
        <p:txBody>
          <a:bodyPr/>
          <a:lstStyle>
            <a:lvl1pPr>
              <a:defRPr sz="14600"/>
            </a:lvl1pPr>
            <a:lvl2pPr>
              <a:defRPr sz="12700"/>
            </a:lvl2pPr>
            <a:lvl3pPr>
              <a:defRPr sz="10900"/>
            </a:lvl3pPr>
            <a:lvl4pPr>
              <a:defRPr sz="9200"/>
            </a:lvl4pPr>
            <a:lvl5pPr>
              <a:defRPr sz="9200"/>
            </a:lvl5pPr>
            <a:lvl6pPr>
              <a:defRPr sz="9200"/>
            </a:lvl6pPr>
            <a:lvl7pPr>
              <a:defRPr sz="9200"/>
            </a:lvl7pPr>
            <a:lvl8pPr>
              <a:defRPr sz="9200"/>
            </a:lvl8pPr>
            <a:lvl9pPr>
              <a:defRPr sz="92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514000" y="8958084"/>
            <a:ext cx="9961903" cy="29282223"/>
          </a:xfrm>
        </p:spPr>
        <p:txBody>
          <a:bodyPr/>
          <a:lstStyle>
            <a:lvl1pPr marL="0" indent="0">
              <a:buNone/>
              <a:defRPr sz="6400"/>
            </a:lvl1pPr>
            <a:lvl2pPr marL="2088211" indent="0">
              <a:buNone/>
              <a:defRPr sz="5500"/>
            </a:lvl2pPr>
            <a:lvl3pPr marL="4176421" indent="0">
              <a:buNone/>
              <a:defRPr sz="4500"/>
            </a:lvl3pPr>
            <a:lvl4pPr marL="6264632" indent="0">
              <a:buNone/>
              <a:defRPr sz="4100"/>
            </a:lvl4pPr>
            <a:lvl5pPr marL="8352842" indent="0">
              <a:buNone/>
              <a:defRPr sz="4100"/>
            </a:lvl5pPr>
            <a:lvl6pPr marL="10441054" indent="0">
              <a:buNone/>
              <a:defRPr sz="4100"/>
            </a:lvl6pPr>
            <a:lvl7pPr marL="12529264" indent="0">
              <a:buNone/>
              <a:defRPr sz="4100"/>
            </a:lvl7pPr>
            <a:lvl8pPr marL="14617475" indent="0">
              <a:buNone/>
              <a:defRPr sz="4100"/>
            </a:lvl8pPr>
            <a:lvl9pPr marL="16705685" indent="0">
              <a:buNone/>
              <a:defRPr sz="4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2025-10-03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35088" y="29965967"/>
            <a:ext cx="18167985" cy="3537652"/>
          </a:xfrm>
        </p:spPr>
        <p:txBody>
          <a:bodyPr anchor="b"/>
          <a:lstStyle>
            <a:lvl1pPr algn="l">
              <a:defRPr sz="92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935088" y="3825022"/>
            <a:ext cx="18167985" cy="25685115"/>
          </a:xfrm>
        </p:spPr>
        <p:txBody>
          <a:bodyPr/>
          <a:lstStyle>
            <a:lvl1pPr marL="0" indent="0">
              <a:buNone/>
              <a:defRPr sz="14600"/>
            </a:lvl1pPr>
            <a:lvl2pPr marL="2088211" indent="0">
              <a:buNone/>
              <a:defRPr sz="12700"/>
            </a:lvl2pPr>
            <a:lvl3pPr marL="4176421" indent="0">
              <a:buNone/>
              <a:defRPr sz="10900"/>
            </a:lvl3pPr>
            <a:lvl4pPr marL="6264632" indent="0">
              <a:buNone/>
              <a:defRPr sz="9200"/>
            </a:lvl4pPr>
            <a:lvl5pPr marL="8352842" indent="0">
              <a:buNone/>
              <a:defRPr sz="9200"/>
            </a:lvl5pPr>
            <a:lvl6pPr marL="10441054" indent="0">
              <a:buNone/>
              <a:defRPr sz="9200"/>
            </a:lvl6pPr>
            <a:lvl7pPr marL="12529264" indent="0">
              <a:buNone/>
              <a:defRPr sz="9200"/>
            </a:lvl7pPr>
            <a:lvl8pPr marL="14617475" indent="0">
              <a:buNone/>
              <a:defRPr sz="9200"/>
            </a:lvl8pPr>
            <a:lvl9pPr marL="16705685" indent="0">
              <a:buNone/>
              <a:defRPr sz="92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935088" y="33503620"/>
            <a:ext cx="18167985" cy="5024053"/>
          </a:xfrm>
        </p:spPr>
        <p:txBody>
          <a:bodyPr/>
          <a:lstStyle>
            <a:lvl1pPr marL="0" indent="0">
              <a:buNone/>
              <a:defRPr sz="6400"/>
            </a:lvl1pPr>
            <a:lvl2pPr marL="2088211" indent="0">
              <a:buNone/>
              <a:defRPr sz="5500"/>
            </a:lvl2pPr>
            <a:lvl3pPr marL="4176421" indent="0">
              <a:buNone/>
              <a:defRPr sz="4500"/>
            </a:lvl3pPr>
            <a:lvl4pPr marL="6264632" indent="0">
              <a:buNone/>
              <a:defRPr sz="4100"/>
            </a:lvl4pPr>
            <a:lvl5pPr marL="8352842" indent="0">
              <a:buNone/>
              <a:defRPr sz="4100"/>
            </a:lvl5pPr>
            <a:lvl6pPr marL="10441054" indent="0">
              <a:buNone/>
              <a:defRPr sz="4100"/>
            </a:lvl6pPr>
            <a:lvl7pPr marL="12529264" indent="0">
              <a:buNone/>
              <a:defRPr sz="4100"/>
            </a:lvl7pPr>
            <a:lvl8pPr marL="14617475" indent="0">
              <a:buNone/>
              <a:defRPr sz="4100"/>
            </a:lvl8pPr>
            <a:lvl9pPr marL="16705685" indent="0">
              <a:buNone/>
              <a:defRPr sz="4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2025-10-03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2025-10-03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21952982" y="1714329"/>
            <a:ext cx="6812994" cy="365259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514000" y="1714329"/>
            <a:ext cx="19934316" cy="365259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2025-10-03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999" y="1714327"/>
            <a:ext cx="27251978" cy="7134755"/>
          </a:xfrm>
          <a:prstGeom prst="rect">
            <a:avLst/>
          </a:prstGeom>
        </p:spPr>
        <p:txBody>
          <a:bodyPr vert="horz" lIns="417642" tIns="208820" rIns="417642" bIns="2088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999" y="9988658"/>
            <a:ext cx="27251978" cy="28251648"/>
          </a:xfrm>
          <a:prstGeom prst="rect">
            <a:avLst/>
          </a:prstGeom>
        </p:spPr>
        <p:txBody>
          <a:bodyPr vert="horz" lIns="417642" tIns="208820" rIns="417642" bIns="2088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999" y="39677164"/>
            <a:ext cx="7065328" cy="2279157"/>
          </a:xfrm>
          <a:prstGeom prst="rect">
            <a:avLst/>
          </a:prstGeom>
        </p:spPr>
        <p:txBody>
          <a:bodyPr vert="horz" lIns="417642" tIns="208820" rIns="417642" bIns="208820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025F4-CEB9-4F13-BC91-A7D2275753A4}" type="datetimeFigureOut">
              <a:rPr lang="ko-KR" altLang="en-US" smtClean="0"/>
              <a:pPr/>
              <a:t>2025-10-03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5659" y="39677164"/>
            <a:ext cx="9588658" cy="2279157"/>
          </a:xfrm>
          <a:prstGeom prst="rect">
            <a:avLst/>
          </a:prstGeom>
        </p:spPr>
        <p:txBody>
          <a:bodyPr vert="horz" lIns="417642" tIns="208820" rIns="417642" bIns="208820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700649" y="39677164"/>
            <a:ext cx="7065328" cy="2279157"/>
          </a:xfrm>
          <a:prstGeom prst="rect">
            <a:avLst/>
          </a:prstGeom>
        </p:spPr>
        <p:txBody>
          <a:bodyPr vert="horz" lIns="417642" tIns="208820" rIns="417642" bIns="208820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76421" rtl="0" eaLnBrk="1" latinLnBrk="1" hangingPunct="1">
        <a:spcBef>
          <a:spcPct val="0"/>
        </a:spcBef>
        <a:buNone/>
        <a:defRPr sz="20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6157" indent="-1566157" algn="l" defTabSz="4176421" rtl="0" eaLnBrk="1" latinLnBrk="1" hangingPunct="1">
        <a:spcBef>
          <a:spcPct val="20000"/>
        </a:spcBef>
        <a:buFont typeface="Arial" pitchFamily="34" charset="0"/>
        <a:buChar char="•"/>
        <a:defRPr sz="14600" kern="1200">
          <a:solidFill>
            <a:schemeClr val="tx1"/>
          </a:solidFill>
          <a:latin typeface="+mn-lt"/>
          <a:ea typeface="+mn-ea"/>
          <a:cs typeface="+mn-cs"/>
        </a:defRPr>
      </a:lvl1pPr>
      <a:lvl2pPr marL="3393342" indent="-1305131" algn="l" defTabSz="4176421" rtl="0" eaLnBrk="1" latinLnBrk="1" hangingPunct="1">
        <a:spcBef>
          <a:spcPct val="20000"/>
        </a:spcBef>
        <a:buFont typeface="Arial" pitchFamily="34" charset="0"/>
        <a:buChar char="–"/>
        <a:defRPr sz="12700" kern="1200">
          <a:solidFill>
            <a:schemeClr val="tx1"/>
          </a:solidFill>
          <a:latin typeface="+mn-lt"/>
          <a:ea typeface="+mn-ea"/>
          <a:cs typeface="+mn-cs"/>
        </a:defRPr>
      </a:lvl2pPr>
      <a:lvl3pPr marL="5220526" indent="-1044105" algn="l" defTabSz="4176421" rtl="0" eaLnBrk="1" latinLnBrk="1" hangingPunct="1">
        <a:spcBef>
          <a:spcPct val="20000"/>
        </a:spcBef>
        <a:buFont typeface="Arial" pitchFamily="34" charset="0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3pPr>
      <a:lvl4pPr marL="7308737" indent="-1044105" algn="l" defTabSz="4176421" rtl="0" eaLnBrk="1" latinLnBrk="1" hangingPunct="1">
        <a:spcBef>
          <a:spcPct val="20000"/>
        </a:spcBef>
        <a:buFont typeface="Arial" pitchFamily="34" charset="0"/>
        <a:buChar char="–"/>
        <a:defRPr sz="9200" kern="1200">
          <a:solidFill>
            <a:schemeClr val="tx1"/>
          </a:solidFill>
          <a:latin typeface="+mn-lt"/>
          <a:ea typeface="+mn-ea"/>
          <a:cs typeface="+mn-cs"/>
        </a:defRPr>
      </a:lvl4pPr>
      <a:lvl5pPr marL="9396947" indent="-1044105" algn="l" defTabSz="4176421" rtl="0" eaLnBrk="1" latinLnBrk="1" hangingPunct="1">
        <a:spcBef>
          <a:spcPct val="20000"/>
        </a:spcBef>
        <a:buFont typeface="Arial" pitchFamily="34" charset="0"/>
        <a:buChar char="»"/>
        <a:defRPr sz="92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5159" indent="-1044105" algn="l" defTabSz="4176421" rtl="0" eaLnBrk="1" latinLnBrk="1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6pPr>
      <a:lvl7pPr marL="13573369" indent="-1044105" algn="l" defTabSz="4176421" rtl="0" eaLnBrk="1" latinLnBrk="1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7pPr>
      <a:lvl8pPr marL="15661580" indent="-1044105" algn="l" defTabSz="4176421" rtl="0" eaLnBrk="1" latinLnBrk="1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9790" indent="-1044105" algn="l" defTabSz="4176421" rtl="0" eaLnBrk="1" latinLnBrk="1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8211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6421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4632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52842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41054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9264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7475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705685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104">
            <a:extLst>
              <a:ext uri="{FF2B5EF4-FFF2-40B4-BE49-F238E27FC236}">
                <a16:creationId xmlns:a16="http://schemas.microsoft.com/office/drawing/2014/main" id="{843C7641-84AD-90E0-4251-65043B1DF98C}"/>
              </a:ext>
            </a:extLst>
          </p:cNvPr>
          <p:cNvSpPr/>
          <p:nvPr/>
        </p:nvSpPr>
        <p:spPr>
          <a:xfrm>
            <a:off x="445834" y="13483382"/>
            <a:ext cx="14065069" cy="669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ko-KR" sz="3400" dirty="0"/>
              <a:t>Role‑playing prompts that inject user personas markedly boost personalized dialogue generation.</a:t>
            </a:r>
          </a:p>
          <a:p>
            <a:pPr algn="just"/>
            <a:endParaRPr lang="en-US" altLang="ko-KR" sz="15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ko-KR" sz="3400" dirty="0"/>
              <a:t>Yet, </a:t>
            </a:r>
            <a:r>
              <a:rPr lang="en-US" altLang="ko-KR" sz="3400" b="1" u="sng" dirty="0"/>
              <a:t>LLMs are highly sensitive to sentiment polarity</a:t>
            </a:r>
            <a:r>
              <a:rPr lang="en-US" altLang="ko-KR" sz="3400" dirty="0"/>
              <a:t> in their context, may harm downstream performance. However, </a:t>
            </a:r>
            <a:r>
              <a:rPr lang="en-US" altLang="ko-KR" sz="3400" b="1" u="sng" dirty="0"/>
              <a:t>the effect of persona‑level sentiment on dialogue still remains unexplored.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altLang="ko-KR" sz="1500" b="1" u="sng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ko-KR" sz="3400" dirty="0"/>
              <a:t>We figure out </a:t>
            </a:r>
            <a:r>
              <a:rPr lang="en-US" altLang="ko-KR" sz="3400" i="1" dirty="0">
                <a:solidFill>
                  <a:srgbClr val="0070C0"/>
                </a:solidFill>
              </a:rPr>
              <a:t>positive–positive pairings</a:t>
            </a:r>
            <a:r>
              <a:rPr lang="en-US" altLang="ko-KR" sz="3400" i="1" dirty="0"/>
              <a:t> </a:t>
            </a:r>
            <a:r>
              <a:rPr lang="en-US" altLang="ko-KR" sz="3400" dirty="0"/>
              <a:t>produce fluent, consistent exchanges, whereas </a:t>
            </a:r>
            <a:r>
              <a:rPr lang="en-US" altLang="ko-KR" sz="3400" dirty="0">
                <a:solidFill>
                  <a:srgbClr val="FF0000"/>
                </a:solidFill>
              </a:rPr>
              <a:t>negative–negative pairings</a:t>
            </a:r>
            <a:r>
              <a:rPr lang="en-US" altLang="ko-KR" sz="3400" dirty="0"/>
              <a:t> spawn contradictions with several toy examples.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altLang="ko-KR" sz="15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ko-KR" sz="3400" dirty="0"/>
              <a:t>These observations lead to two guiding questions:</a:t>
            </a:r>
          </a:p>
          <a:p>
            <a:pPr marL="2545411" lvl="1" indent="-457200" algn="just">
              <a:buFont typeface="Wingdings" panose="05000000000000000000" pitchFamily="2" charset="2"/>
              <a:buChar char="Ø"/>
            </a:pPr>
            <a:r>
              <a:rPr lang="en-US" altLang="ko-KR" sz="3400" b="1" i="1" u="sng" dirty="0"/>
              <a:t>RQ1. Are LLMs sensitive to users’ sentiment polarity?</a:t>
            </a:r>
          </a:p>
          <a:p>
            <a:pPr marL="2545411" lvl="1" indent="-457200" algn="just">
              <a:buFont typeface="Wingdings" panose="05000000000000000000" pitchFamily="2" charset="2"/>
              <a:buChar char="Ø"/>
            </a:pPr>
            <a:r>
              <a:rPr lang="en-US" altLang="ko-KR" sz="3400" b="1" i="1" u="sng" dirty="0"/>
              <a:t>RQ2. If so, how can we make LLMs robust to polarity?</a:t>
            </a:r>
            <a:endParaRPr lang="en-US" altLang="ko-KR" sz="3600" b="1" i="1" u="sng" dirty="0"/>
          </a:p>
        </p:txBody>
      </p:sp>
      <p:sp>
        <p:nvSpPr>
          <p:cNvPr id="82" name="TextBox 81"/>
          <p:cNvSpPr txBox="1"/>
          <p:nvPr/>
        </p:nvSpPr>
        <p:spPr>
          <a:xfrm>
            <a:off x="543821" y="508373"/>
            <a:ext cx="27989917" cy="3602369"/>
          </a:xfrm>
          <a:prstGeom prst="rect">
            <a:avLst/>
          </a:prstGeom>
          <a:noFill/>
        </p:spPr>
        <p:txBody>
          <a:bodyPr wrap="square" lIns="92809" tIns="46405" rIns="92809" bIns="46405" rtlCol="0">
            <a:spAutoFit/>
          </a:bodyPr>
          <a:lstStyle/>
          <a:p>
            <a:pPr algn="ctr"/>
            <a:r>
              <a:rPr lang="en-US" altLang="ko-KR" sz="6600" b="1" dirty="0"/>
              <a:t>Exploring Persona Sentiment Sensitivity in </a:t>
            </a:r>
          </a:p>
          <a:p>
            <a:pPr algn="ctr"/>
            <a:r>
              <a:rPr lang="en-US" altLang="ko-KR" sz="6600" b="1" dirty="0"/>
              <a:t>Personalized Dialogue Generation</a:t>
            </a:r>
            <a:endParaRPr lang="en-US" altLang="ko-KR" sz="2400" dirty="0">
              <a:latin typeface="+mj-lt"/>
              <a:ea typeface="아리따-부리(OTF)-Medium" panose="02020603020101020101" pitchFamily="18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4800" dirty="0" err="1">
                <a:latin typeface="+mj-lt"/>
                <a:ea typeface="아리따-부리(OTF)-Medium" panose="02020603020101020101" pitchFamily="18" charset="-127"/>
                <a:cs typeface="Arial" panose="020B0604020202020204" pitchFamily="34" charset="0"/>
              </a:rPr>
              <a:t>Yonghyun</a:t>
            </a:r>
            <a:r>
              <a:rPr lang="en-US" altLang="ko-KR" sz="4800" dirty="0">
                <a:latin typeface="+mj-lt"/>
                <a:ea typeface="아리따-부리(OTF)-Medium" panose="02020603020101020101" pitchFamily="18" charset="-127"/>
                <a:cs typeface="Arial" panose="020B0604020202020204" pitchFamily="34" charset="0"/>
              </a:rPr>
              <a:t> Jun, </a:t>
            </a:r>
            <a:r>
              <a:rPr lang="en-US" altLang="ko-KR" sz="4800" dirty="0" err="1">
                <a:latin typeface="+mj-lt"/>
                <a:ea typeface="아리따-부리(OTF)-Medium" panose="02020603020101020101" pitchFamily="18" charset="-127"/>
                <a:cs typeface="Arial" panose="020B0604020202020204" pitchFamily="34" charset="0"/>
              </a:rPr>
              <a:t>Hwanhee</a:t>
            </a:r>
            <a:r>
              <a:rPr lang="en-US" altLang="ko-KR" sz="4800" dirty="0">
                <a:latin typeface="+mj-lt"/>
                <a:ea typeface="아리따-부리(OTF)-Medium" panose="02020603020101020101" pitchFamily="18" charset="-127"/>
                <a:cs typeface="Arial" panose="020B0604020202020204" pitchFamily="34" charset="0"/>
              </a:rPr>
              <a:t> Lee </a:t>
            </a:r>
            <a:endParaRPr lang="en-US" altLang="ko-KR" sz="5000" baseline="30000" dirty="0">
              <a:latin typeface="+mj-lt"/>
              <a:ea typeface="아리따-부리(OTF)-Medium" panose="02020603020101020101" pitchFamily="18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4800" dirty="0">
                <a:latin typeface="+mj-lt"/>
                <a:ea typeface="아리따-부리(OTF)-Medium" panose="02020603020101020101" pitchFamily="18" charset="-127"/>
                <a:cs typeface="Arial" panose="020B0604020202020204" pitchFamily="34" charset="0"/>
              </a:rPr>
              <a:t>Language Intelligence lab, Chung-Ang University</a:t>
            </a:r>
          </a:p>
        </p:txBody>
      </p:sp>
      <p:cxnSp>
        <p:nvCxnSpPr>
          <p:cNvPr id="77" name="직선 연결선 76"/>
          <p:cNvCxnSpPr>
            <a:cxnSpLocks/>
          </p:cNvCxnSpPr>
          <p:nvPr/>
        </p:nvCxnSpPr>
        <p:spPr>
          <a:xfrm>
            <a:off x="14885475" y="6876611"/>
            <a:ext cx="53294" cy="3558999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A7686BF-BD60-BCAA-CABA-AE9A11459D92}"/>
              </a:ext>
            </a:extLst>
          </p:cNvPr>
          <p:cNvGrpSpPr/>
          <p:nvPr/>
        </p:nvGrpSpPr>
        <p:grpSpPr>
          <a:xfrm>
            <a:off x="445835" y="6354590"/>
            <a:ext cx="14404405" cy="1070437"/>
            <a:chOff x="445835" y="6354590"/>
            <a:chExt cx="14404405" cy="1070437"/>
          </a:xfrm>
        </p:grpSpPr>
        <p:sp>
          <p:nvSpPr>
            <p:cNvPr id="78" name="직사각형 77"/>
            <p:cNvSpPr/>
            <p:nvPr/>
          </p:nvSpPr>
          <p:spPr>
            <a:xfrm>
              <a:off x="448640" y="6354590"/>
              <a:ext cx="14401600" cy="9838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5400" b="1" dirty="0">
                  <a:solidFill>
                    <a:schemeClr val="tx1"/>
                  </a:solidFill>
                  <a:latin typeface="Helvetica" panose="020B0500000000000000" pitchFamily="34" charset="0"/>
                  <a:ea typeface="아리따-부리(OTF)-Bold" panose="02020603020101020101" pitchFamily="18" charset="-127"/>
                  <a:cs typeface="Arial" pitchFamily="34" charset="0"/>
                </a:rPr>
                <a:t>Motivation &amp; Research Questions</a:t>
              </a:r>
              <a:endParaRPr lang="ko-KR" altLang="en-US" sz="5400" b="1" dirty="0">
                <a:solidFill>
                  <a:schemeClr val="tx1"/>
                </a:solidFill>
                <a:latin typeface="Helvetica" panose="020B0500000000000000" pitchFamily="34" charset="0"/>
                <a:ea typeface="아리따-부리(OTF)-Bold" panose="02020603020101020101" pitchFamily="18" charset="-127"/>
                <a:cs typeface="Arial" pitchFamily="34" charset="0"/>
              </a:endParaRPr>
            </a:p>
          </p:txBody>
        </p:sp>
        <p:cxnSp>
          <p:nvCxnSpPr>
            <p:cNvPr id="80" name="직선 연결선 79"/>
            <p:cNvCxnSpPr/>
            <p:nvPr/>
          </p:nvCxnSpPr>
          <p:spPr>
            <a:xfrm>
              <a:off x="445835" y="7409997"/>
              <a:ext cx="13681520" cy="15030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D17A3BD-2A5A-ECC8-07E0-7BA83B2E355E}"/>
              </a:ext>
            </a:extLst>
          </p:cNvPr>
          <p:cNvGrpSpPr/>
          <p:nvPr/>
        </p:nvGrpSpPr>
        <p:grpSpPr>
          <a:xfrm>
            <a:off x="720444" y="7864011"/>
            <a:ext cx="13569808" cy="5331339"/>
            <a:chOff x="720444" y="8985550"/>
            <a:chExt cx="13569808" cy="533133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21AFBAC-024D-1285-5CA4-14BA4B5BB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0444" y="8985551"/>
              <a:ext cx="6505322" cy="531630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099A213-6D78-D1A8-FDE8-B9AB4DA07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61256" y="8985550"/>
              <a:ext cx="6628996" cy="5331339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4BDB302-91DB-2FBD-441B-A1C11677256B}"/>
              </a:ext>
            </a:extLst>
          </p:cNvPr>
          <p:cNvGrpSpPr/>
          <p:nvPr/>
        </p:nvGrpSpPr>
        <p:grpSpPr>
          <a:xfrm>
            <a:off x="580767" y="20771283"/>
            <a:ext cx="13930135" cy="5133479"/>
            <a:chOff x="605772" y="21665635"/>
            <a:chExt cx="13930135" cy="5133479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92EA7D90-37AE-524C-A5EC-A111095AB454}"/>
                </a:ext>
              </a:extLst>
            </p:cNvPr>
            <p:cNvGrpSpPr/>
            <p:nvPr/>
          </p:nvGrpSpPr>
          <p:grpSpPr>
            <a:xfrm>
              <a:off x="605772" y="21665635"/>
              <a:ext cx="13693231" cy="1026392"/>
              <a:chOff x="15923169" y="9738966"/>
              <a:chExt cx="13693231" cy="1026392"/>
            </a:xfrm>
          </p:grpSpPr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7999507A-F9B6-D94F-B216-4A49444EA1AA}"/>
                  </a:ext>
                </a:extLst>
              </p:cNvPr>
              <p:cNvSpPr/>
              <p:nvPr/>
            </p:nvSpPr>
            <p:spPr>
              <a:xfrm>
                <a:off x="16037841" y="9738966"/>
                <a:ext cx="13575754" cy="102639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5400" b="1" dirty="0">
                    <a:solidFill>
                      <a:schemeClr val="tx1"/>
                    </a:solidFill>
                    <a:latin typeface="Helvetica" panose="020B0500000000000000" pitchFamily="34" charset="0"/>
                    <a:ea typeface="아리따-부리(OTF)-Bold" panose="02020603020101020101" pitchFamily="18" charset="-127"/>
                    <a:cs typeface="Arial" pitchFamily="34" charset="0"/>
                  </a:rPr>
                  <a:t>Experimental Setting</a:t>
                </a:r>
                <a:endParaRPr lang="ko-KR" altLang="en-US" sz="5400" b="1" dirty="0">
                  <a:solidFill>
                    <a:schemeClr val="tx1"/>
                  </a:solidFill>
                  <a:latin typeface="Helvetica" panose="020B0500000000000000" pitchFamily="34" charset="0"/>
                  <a:ea typeface="아리따-부리(OTF)-Bold" panose="02020603020101020101" pitchFamily="18" charset="-127"/>
                  <a:cs typeface="Arial" pitchFamily="34" charset="0"/>
                </a:endParaRPr>
              </a:p>
            </p:txBody>
          </p:sp>
          <p:cxnSp>
            <p:nvCxnSpPr>
              <p:cNvPr id="66" name="직선 연결선 40">
                <a:extLst>
                  <a:ext uri="{FF2B5EF4-FFF2-40B4-BE49-F238E27FC236}">
                    <a16:creationId xmlns:a16="http://schemas.microsoft.com/office/drawing/2014/main" id="{BFCB74D4-E28F-E74E-9776-C5C05BC3288A}"/>
                  </a:ext>
                </a:extLst>
              </p:cNvPr>
              <p:cNvCxnSpPr/>
              <p:nvPr/>
            </p:nvCxnSpPr>
            <p:spPr>
              <a:xfrm flipV="1">
                <a:off x="15923169" y="10718800"/>
                <a:ext cx="13693231" cy="19021"/>
              </a:xfrm>
              <a:prstGeom prst="line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직사각형 104">
              <a:extLst>
                <a:ext uri="{FF2B5EF4-FFF2-40B4-BE49-F238E27FC236}">
                  <a16:creationId xmlns:a16="http://schemas.microsoft.com/office/drawing/2014/main" id="{35109B52-4171-1B78-9261-C7F54E7BCE36}"/>
                </a:ext>
              </a:extLst>
            </p:cNvPr>
            <p:cNvSpPr/>
            <p:nvPr/>
          </p:nvSpPr>
          <p:spPr>
            <a:xfrm>
              <a:off x="605772" y="23105795"/>
              <a:ext cx="13930135" cy="36933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altLang="ko-KR" sz="3400" b="1" i="1" u="sng" dirty="0"/>
                <a:t>Polarized Profiles Synthesis</a:t>
              </a:r>
              <a:r>
                <a:rPr lang="en-US" altLang="ko-KR" sz="3400" b="1" dirty="0"/>
                <a:t>: </a:t>
              </a:r>
              <a:r>
                <a:rPr lang="en-US" altLang="ko-KR" sz="3400" dirty="0"/>
                <a:t>Keep ConvAI2 personas with sentiment ≥ 0.99 as Positive or Negative and build </a:t>
              </a:r>
              <a:r>
                <a:rPr lang="en-US" altLang="ko-KR" sz="3400" dirty="0">
                  <a:solidFill>
                    <a:srgbClr val="0070C0"/>
                  </a:solidFill>
                </a:rPr>
                <a:t>Positive</a:t>
              </a:r>
              <a:r>
                <a:rPr lang="en-US" altLang="ko-KR" sz="3400" dirty="0"/>
                <a:t> (all positive), </a:t>
              </a:r>
              <a:r>
                <a:rPr lang="en-US" altLang="ko-KR" sz="3400" dirty="0">
                  <a:solidFill>
                    <a:srgbClr val="FF0000"/>
                  </a:solidFill>
                </a:rPr>
                <a:t>Negative</a:t>
              </a:r>
              <a:r>
                <a:rPr lang="en-US" altLang="ko-KR" sz="3400" dirty="0"/>
                <a:t> (all negative), </a:t>
              </a:r>
              <a:r>
                <a:rPr lang="en-US" altLang="ko-KR" sz="3400" dirty="0">
                  <a:solidFill>
                    <a:srgbClr val="7030A0"/>
                  </a:solidFill>
                </a:rPr>
                <a:t>Mixed</a:t>
              </a:r>
              <a:r>
                <a:rPr lang="en-US" altLang="ko-KR" sz="3400" dirty="0"/>
                <a:t> (duality) profiles.</a:t>
              </a:r>
              <a:r>
                <a:rPr lang="en-US" altLang="ko-KR" sz="3400" b="1" i="1" u="sng" dirty="0"/>
                <a:t> 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altLang="ko-KR" sz="1500" b="1" i="1" u="sng" dirty="0"/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altLang="ko-KR" sz="3400" b="1" i="1" u="sng" dirty="0"/>
                <a:t>Generation Strategy</a:t>
              </a:r>
              <a:r>
                <a:rPr lang="en-US" altLang="ko-KR" sz="3400" dirty="0"/>
                <a:t>: One‑pass dual‑profile joint generation</a:t>
              </a:r>
              <a:r>
                <a:rPr lang="en-US" altLang="ko-KR" sz="3400" b="1" i="1" u="sng" dirty="0"/>
                <a:t> 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altLang="ko-KR" sz="1500" b="1" i="1" u="sng" dirty="0"/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altLang="ko-KR" sz="3400" b="1" i="1" u="sng" dirty="0"/>
                <a:t>Evaluation Criteria</a:t>
              </a:r>
              <a:r>
                <a:rPr lang="en-US" altLang="ko-KR" sz="3400" b="1" dirty="0"/>
                <a:t>: </a:t>
              </a:r>
              <a:r>
                <a:rPr lang="en-US" altLang="ko-KR" sz="3400" dirty="0"/>
                <a:t>Consistency and Coherence of</a:t>
              </a:r>
              <a:r>
                <a:rPr lang="ko-KR" altLang="en-US" sz="3400" dirty="0"/>
                <a:t> </a:t>
              </a:r>
              <a:r>
                <a:rPr lang="en-US" altLang="ko-KR" sz="3400" dirty="0"/>
                <a:t>Dialogues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altLang="ko-KR" sz="34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F50F9B-51D7-743C-4355-86CD6AB10897}"/>
              </a:ext>
            </a:extLst>
          </p:cNvPr>
          <p:cNvGrpSpPr/>
          <p:nvPr/>
        </p:nvGrpSpPr>
        <p:grpSpPr>
          <a:xfrm>
            <a:off x="15135237" y="7984516"/>
            <a:ext cx="14804885" cy="6621685"/>
            <a:chOff x="40373" y="34806471"/>
            <a:chExt cx="14804885" cy="6621685"/>
          </a:xfrm>
        </p:grpSpPr>
        <p:sp>
          <p:nvSpPr>
            <p:cNvPr id="35" name="직사각형 104">
              <a:extLst>
                <a:ext uri="{FF2B5EF4-FFF2-40B4-BE49-F238E27FC236}">
                  <a16:creationId xmlns:a16="http://schemas.microsoft.com/office/drawing/2014/main" id="{C0A42B8D-62B4-4756-B550-4D0405C27180}"/>
                </a:ext>
              </a:extLst>
            </p:cNvPr>
            <p:cNvSpPr/>
            <p:nvPr/>
          </p:nvSpPr>
          <p:spPr>
            <a:xfrm>
              <a:off x="250212" y="38781278"/>
              <a:ext cx="14442263" cy="26468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571500" indent="-571500" algn="just">
                <a:buFont typeface="Arial" panose="020B0604020202020204" pitchFamily="34" charset="0"/>
                <a:buChar char="•"/>
              </a:pPr>
              <a:r>
                <a:rPr lang="en-US" altLang="ko-KR" sz="3400" dirty="0"/>
                <a:t>We measure dialogue quality at graded polarity levels via classifier confidence.</a:t>
              </a:r>
            </a:p>
            <a:p>
              <a:pPr marL="571500" indent="-571500" algn="just">
                <a:buFont typeface="Arial" panose="020B0604020202020204" pitchFamily="34" charset="0"/>
                <a:buChar char="•"/>
              </a:pPr>
              <a:endParaRPr lang="en-US" altLang="ko-KR" sz="1500" dirty="0"/>
            </a:p>
            <a:p>
              <a:pPr marL="571500" indent="-571500" algn="just">
                <a:buFont typeface="Arial" panose="020B0604020202020204" pitchFamily="34" charset="0"/>
                <a:buChar char="•"/>
              </a:pPr>
              <a:r>
                <a:rPr lang="en-US" altLang="ko-KR" sz="3400" dirty="0"/>
                <a:t>Personas with </a:t>
              </a:r>
              <a:r>
                <a:rPr lang="en-US" altLang="ko-KR" sz="3400" b="1" u="sng" dirty="0"/>
                <a:t>extreme polarity yield higher</a:t>
              </a:r>
              <a:r>
                <a:rPr lang="en-US" altLang="ko-KR" sz="3400" dirty="0"/>
                <a:t> dialogue quality.</a:t>
              </a:r>
            </a:p>
            <a:p>
              <a:pPr marL="571500" indent="-571500" algn="just">
                <a:buFont typeface="Arial" panose="020B0604020202020204" pitchFamily="34" charset="0"/>
                <a:buChar char="•"/>
              </a:pPr>
              <a:endParaRPr lang="en-US" altLang="ko-KR" sz="1500" dirty="0"/>
            </a:p>
            <a:p>
              <a:pPr marL="571500" indent="-571500" algn="just">
                <a:buFont typeface="Arial" panose="020B0604020202020204" pitchFamily="34" charset="0"/>
                <a:buChar char="•"/>
              </a:pPr>
              <a:r>
                <a:rPr lang="en-US" altLang="ko-KR" sz="3400" dirty="0">
                  <a:solidFill>
                    <a:srgbClr val="0070C0"/>
                  </a:solidFill>
                </a:rPr>
                <a:t>Positive polarity</a:t>
              </a:r>
              <a:r>
                <a:rPr lang="en-US" altLang="ko-KR" sz="3400" dirty="0"/>
                <a:t> personas achieve the </a:t>
              </a:r>
              <a:r>
                <a:rPr lang="en-US" altLang="ko-KR" sz="3400" b="1" u="sng" dirty="0"/>
                <a:t>best quality</a:t>
              </a:r>
              <a:r>
                <a:rPr lang="en-US" altLang="ko-KR" sz="3400" dirty="0"/>
                <a:t>.</a:t>
              </a:r>
              <a:endParaRPr kumimoji="0" lang="en-US" altLang="ko-KR" sz="34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F9D8E01-B2D6-24FC-8FB4-D9C20C9F32DF}"/>
                </a:ext>
              </a:extLst>
            </p:cNvPr>
            <p:cNvGrpSpPr/>
            <p:nvPr/>
          </p:nvGrpSpPr>
          <p:grpSpPr>
            <a:xfrm>
              <a:off x="40373" y="34806471"/>
              <a:ext cx="14804885" cy="3723446"/>
              <a:chOff x="13951763" y="19342026"/>
              <a:chExt cx="16043322" cy="4034915"/>
            </a:xfrm>
          </p:grpSpPr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F3321164-9A18-8843-9375-1F7118CA4B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51763" y="19342026"/>
                <a:ext cx="7858524" cy="4034915"/>
              </a:xfrm>
              <a:prstGeom prst="rect">
                <a:avLst/>
              </a:prstGeom>
            </p:spPr>
          </p:pic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0688CF3F-7622-6E35-5ED6-4919966D91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137089" y="19342026"/>
                <a:ext cx="7857996" cy="4034915"/>
              </a:xfrm>
              <a:prstGeom prst="rect">
                <a:avLst/>
              </a:prstGeom>
            </p:spPr>
          </p:pic>
        </p:grpSp>
      </p:grpSp>
      <p:sp>
        <p:nvSpPr>
          <p:cNvPr id="44" name="직사각형 104">
            <a:extLst>
              <a:ext uri="{FF2B5EF4-FFF2-40B4-BE49-F238E27FC236}">
                <a16:creationId xmlns:a16="http://schemas.microsoft.com/office/drawing/2014/main" id="{D9FF86F2-7711-CAE3-6011-62D4BCF46C76}"/>
              </a:ext>
            </a:extLst>
          </p:cNvPr>
          <p:cNvSpPr/>
          <p:nvPr/>
        </p:nvSpPr>
        <p:spPr>
          <a:xfrm>
            <a:off x="15437448" y="24414074"/>
            <a:ext cx="1447786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kumimoji="0" lang="en-US" altLang="ko-KR" sz="3400" b="1" i="0" u="sng" strike="noStrike" cap="none" normalizeH="0" baseline="0" dirty="0">
                <a:ln>
                  <a:noFill/>
                </a:ln>
                <a:effectLst/>
              </a:rPr>
              <a:t>Joint</a:t>
            </a:r>
            <a:r>
              <a:rPr kumimoji="0" lang="en-US" altLang="ko-KR" sz="3400" b="0" i="0" u="none" strike="noStrike" cap="none" normalizeH="0" baseline="0" dirty="0">
                <a:ln>
                  <a:noFill/>
                </a:ln>
                <a:effectLst/>
              </a:rPr>
              <a:t> vs. </a:t>
            </a:r>
            <a:r>
              <a:rPr kumimoji="0" lang="en-US" altLang="ko-KR" sz="3400" b="1" i="0" u="sng" strike="noStrike" cap="none" normalizeH="0" baseline="0" dirty="0">
                <a:ln>
                  <a:noFill/>
                </a:ln>
                <a:effectLst/>
              </a:rPr>
              <a:t>Turn‑based</a:t>
            </a:r>
            <a:r>
              <a:rPr kumimoji="0" lang="en-US" altLang="ko-KR" sz="3400" i="0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ko-KR" sz="3400" b="0" i="0" u="none" strike="noStrike" cap="none" normalizeH="0" baseline="0" dirty="0">
                <a:ln>
                  <a:noFill/>
                </a:ln>
                <a:effectLst/>
              </a:rPr>
              <a:t>approach on original pair configurations.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kumimoji="0" lang="en-US" altLang="ko-KR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kumimoji="0" lang="en-US" altLang="ko-KR" sz="3400" b="0" i="0" u="none" strike="noStrike" cap="none" normalizeH="0" baseline="0" dirty="0">
                <a:ln>
                  <a:noFill/>
                </a:ln>
                <a:effectLst/>
              </a:rPr>
              <a:t>Turn‑based: </a:t>
            </a:r>
            <a:r>
              <a:rPr kumimoji="0" lang="en-US" altLang="ko-KR" sz="3400" b="1" i="0" u="sng" strike="noStrike" cap="none" normalizeH="0" baseline="0" dirty="0">
                <a:ln>
                  <a:noFill/>
                </a:ln>
                <a:effectLst/>
              </a:rPr>
              <a:t>ascending</a:t>
            </a:r>
            <a:r>
              <a:rPr kumimoji="0" lang="en-US" altLang="ko-KR" sz="3400" b="0" i="0" u="none" strike="noStrike" cap="none" normalizeH="0" baseline="0" dirty="0">
                <a:ln>
                  <a:noFill/>
                </a:ln>
                <a:effectLst/>
              </a:rPr>
              <a:t> / </a:t>
            </a:r>
            <a:r>
              <a:rPr kumimoji="0" lang="en-US" altLang="ko-KR" sz="3400" b="1" i="0" u="sng" strike="noStrike" cap="none" normalizeH="0" baseline="0" dirty="0">
                <a:ln>
                  <a:noFill/>
                </a:ln>
                <a:effectLst/>
              </a:rPr>
              <a:t>descending</a:t>
            </a:r>
            <a:r>
              <a:rPr kumimoji="0" lang="en-US" altLang="ko-KR" sz="3400" b="0" i="0" u="none" strike="noStrike" cap="none" normalizeH="0" baseline="0" dirty="0">
                <a:ln>
                  <a:noFill/>
                </a:ln>
                <a:effectLst/>
              </a:rPr>
              <a:t> / </a:t>
            </a:r>
            <a:r>
              <a:rPr kumimoji="0" lang="en-US" altLang="ko-KR" sz="3400" b="1" i="0" u="sng" strike="noStrike" cap="none" normalizeH="0" baseline="0" dirty="0">
                <a:ln>
                  <a:noFill/>
                </a:ln>
                <a:effectLst/>
              </a:rPr>
              <a:t>center‑out</a:t>
            </a:r>
            <a:r>
              <a:rPr kumimoji="0" lang="en-US" altLang="ko-KR" sz="3400" b="0" i="0" u="none" strike="noStrike" cap="none" normalizeH="0" baseline="0" dirty="0">
                <a:ln>
                  <a:noFill/>
                </a:ln>
                <a:effectLst/>
              </a:rPr>
              <a:t> polarity order tests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kumimoji="0" lang="en-US" altLang="ko-KR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kumimoji="0" lang="en-US" altLang="ko-KR" sz="3400" b="0" i="0" u="none" strike="noStrike" cap="none" normalizeH="0" baseline="0" dirty="0">
                <a:ln>
                  <a:noFill/>
                </a:ln>
                <a:effectLst/>
              </a:rPr>
              <a:t>Light </a:t>
            </a:r>
            <a:r>
              <a:rPr kumimoji="0" lang="en-US" altLang="ko-KR" sz="3400" b="1" i="0" u="sng" strike="noStrike" cap="none" normalizeH="0" baseline="0" dirty="0">
                <a:ln>
                  <a:noFill/>
                </a:ln>
                <a:effectLst/>
              </a:rPr>
              <a:t>sentiment‑aware prompt</a:t>
            </a:r>
            <a:r>
              <a:rPr kumimoji="0" lang="en-US" altLang="ko-KR" sz="3400" b="0" i="0" u="none" strike="noStrike" cap="none" normalizeH="0" baseline="0" dirty="0">
                <a:ln>
                  <a:noFill/>
                </a:ln>
                <a:effectLst/>
              </a:rPr>
              <a:t> toward negative &amp; neutral personas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kumimoji="0" lang="en-US" altLang="ko-KR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kumimoji="0" lang="en-US" altLang="ko-KR" sz="3400" b="1" i="0" u="sng" strike="noStrike" cap="none" normalizeH="0" baseline="0" dirty="0">
                <a:ln>
                  <a:noFill/>
                </a:ln>
                <a:effectLst/>
              </a:rPr>
              <a:t>Turn‑based + center‑out + prompt</a:t>
            </a:r>
            <a:r>
              <a:rPr kumimoji="0" lang="en-US" altLang="ko-KR" sz="3400" b="0" i="0" u="none" strike="noStrike" cap="none" normalizeH="0" baseline="0" dirty="0">
                <a:ln>
                  <a:noFill/>
                </a:ln>
                <a:effectLst/>
              </a:rPr>
              <a:t> minimizes sensitivity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kumimoji="0" lang="en-US" altLang="ko-KR" sz="15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B47DFB2-6FA4-2987-E61B-DAE2E105811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814"/>
          <a:stretch>
            <a:fillRect/>
          </a:stretch>
        </p:blipFill>
        <p:spPr>
          <a:xfrm>
            <a:off x="17021808" y="16230195"/>
            <a:ext cx="10794822" cy="7951287"/>
          </a:xfrm>
          <a:prstGeom prst="rect">
            <a:avLst/>
          </a:prstGeom>
        </p:spPr>
      </p:pic>
      <p:grpSp>
        <p:nvGrpSpPr>
          <p:cNvPr id="2" name="그룹 63">
            <a:extLst>
              <a:ext uri="{FF2B5EF4-FFF2-40B4-BE49-F238E27FC236}">
                <a16:creationId xmlns:a16="http://schemas.microsoft.com/office/drawing/2014/main" id="{5E3C688A-E7EA-9393-2D65-2BB2E7A8E175}"/>
              </a:ext>
            </a:extLst>
          </p:cNvPr>
          <p:cNvGrpSpPr/>
          <p:nvPr/>
        </p:nvGrpSpPr>
        <p:grpSpPr>
          <a:xfrm>
            <a:off x="15587173" y="15175570"/>
            <a:ext cx="14200168" cy="1026392"/>
            <a:chOff x="15923169" y="9738966"/>
            <a:chExt cx="13690427" cy="1026392"/>
          </a:xfrm>
        </p:grpSpPr>
        <p:sp>
          <p:nvSpPr>
            <p:cNvPr id="4" name="직사각형 64">
              <a:extLst>
                <a:ext uri="{FF2B5EF4-FFF2-40B4-BE49-F238E27FC236}">
                  <a16:creationId xmlns:a16="http://schemas.microsoft.com/office/drawing/2014/main" id="{C63F1D95-C1B5-0A81-2A80-AC3ECAD9F0A3}"/>
                </a:ext>
              </a:extLst>
            </p:cNvPr>
            <p:cNvSpPr/>
            <p:nvPr/>
          </p:nvSpPr>
          <p:spPr>
            <a:xfrm>
              <a:off x="16037842" y="9738966"/>
              <a:ext cx="13575754" cy="1026392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5400" b="1" dirty="0">
                  <a:solidFill>
                    <a:schemeClr val="tx1"/>
                  </a:solidFill>
                  <a:latin typeface="Helvetica" panose="020B0500000000000000" pitchFamily="34" charset="0"/>
                  <a:ea typeface="아리따-부리(OTF)-Bold" panose="02020603020101020101" pitchFamily="18" charset="-127"/>
                  <a:cs typeface="Arial" pitchFamily="34" charset="0"/>
                </a:rPr>
                <a:t>How to Make LLMs Robust to Polarity?</a:t>
              </a:r>
              <a:endParaRPr lang="ko-KR" altLang="en-US" sz="5400" b="1" dirty="0">
                <a:solidFill>
                  <a:schemeClr val="tx1"/>
                </a:solidFill>
                <a:latin typeface="Helvetica" panose="020B0500000000000000" pitchFamily="34" charset="0"/>
                <a:ea typeface="아리따-부리(OTF)-Bold" panose="02020603020101020101" pitchFamily="18" charset="-127"/>
                <a:cs typeface="Arial" pitchFamily="34" charset="0"/>
              </a:endParaRPr>
            </a:p>
          </p:txBody>
        </p:sp>
        <p:cxnSp>
          <p:nvCxnSpPr>
            <p:cNvPr id="6" name="직선 연결선 40">
              <a:extLst>
                <a:ext uri="{FF2B5EF4-FFF2-40B4-BE49-F238E27FC236}">
                  <a16:creationId xmlns:a16="http://schemas.microsoft.com/office/drawing/2014/main" id="{18F92EF5-6357-9C94-2238-873A26736F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23169" y="10719553"/>
              <a:ext cx="13151064" cy="18268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C427A3CA-A1C0-CF70-9C86-7D05980E22A6}"/>
              </a:ext>
            </a:extLst>
          </p:cNvPr>
          <p:cNvGrpSpPr/>
          <p:nvPr/>
        </p:nvGrpSpPr>
        <p:grpSpPr>
          <a:xfrm>
            <a:off x="15309471" y="37479770"/>
            <a:ext cx="14395668" cy="4950828"/>
            <a:chOff x="15613927" y="34479320"/>
            <a:chExt cx="14235477" cy="4950828"/>
          </a:xfrm>
        </p:grpSpPr>
        <p:grpSp>
          <p:nvGrpSpPr>
            <p:cNvPr id="48" name="그룹 63">
              <a:extLst>
                <a:ext uri="{FF2B5EF4-FFF2-40B4-BE49-F238E27FC236}">
                  <a16:creationId xmlns:a16="http://schemas.microsoft.com/office/drawing/2014/main" id="{7094A93B-3333-E933-3AB2-6D0D871098CB}"/>
                </a:ext>
              </a:extLst>
            </p:cNvPr>
            <p:cNvGrpSpPr/>
            <p:nvPr/>
          </p:nvGrpSpPr>
          <p:grpSpPr>
            <a:xfrm>
              <a:off x="15632025" y="34479320"/>
              <a:ext cx="14217379" cy="1098400"/>
              <a:chOff x="15923169" y="9495851"/>
              <a:chExt cx="13690426" cy="1098400"/>
            </a:xfrm>
          </p:grpSpPr>
          <p:sp>
            <p:nvSpPr>
              <p:cNvPr id="49" name="직사각형 64">
                <a:extLst>
                  <a:ext uri="{FF2B5EF4-FFF2-40B4-BE49-F238E27FC236}">
                    <a16:creationId xmlns:a16="http://schemas.microsoft.com/office/drawing/2014/main" id="{BD5C5B46-85BA-2E58-1E32-34E49E567B37}"/>
                  </a:ext>
                </a:extLst>
              </p:cNvPr>
              <p:cNvSpPr/>
              <p:nvPr/>
            </p:nvSpPr>
            <p:spPr>
              <a:xfrm>
                <a:off x="16037841" y="9495851"/>
                <a:ext cx="13575754" cy="102639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5400" b="1" dirty="0">
                    <a:solidFill>
                      <a:schemeClr val="tx1"/>
                    </a:solidFill>
                    <a:latin typeface="Helvetica" panose="020B0500000000000000" pitchFamily="34" charset="0"/>
                    <a:ea typeface="아리따-부리(OTF)-Bold" panose="02020603020101020101" pitchFamily="18" charset="-127"/>
                    <a:cs typeface="Arial" pitchFamily="34" charset="0"/>
                  </a:rPr>
                  <a:t>Conclusion</a:t>
                </a:r>
                <a:endParaRPr lang="ko-KR" altLang="en-US" sz="5400" b="1" dirty="0">
                  <a:solidFill>
                    <a:schemeClr val="tx1"/>
                  </a:solidFill>
                  <a:latin typeface="Helvetica" panose="020B0500000000000000" pitchFamily="34" charset="0"/>
                  <a:ea typeface="아리따-부리(OTF)-Bold" panose="02020603020101020101" pitchFamily="18" charset="-127"/>
                  <a:cs typeface="Arial" pitchFamily="34" charset="0"/>
                </a:endParaRPr>
              </a:p>
            </p:txBody>
          </p:sp>
          <p:cxnSp>
            <p:nvCxnSpPr>
              <p:cNvPr id="50" name="직선 연결선 40">
                <a:extLst>
                  <a:ext uri="{FF2B5EF4-FFF2-40B4-BE49-F238E27FC236}">
                    <a16:creationId xmlns:a16="http://schemas.microsoft.com/office/drawing/2014/main" id="{07904E43-0A10-6F5C-72E3-3FE6A98264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923169" y="10576078"/>
                <a:ext cx="13082695" cy="18173"/>
              </a:xfrm>
              <a:prstGeom prst="line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직사각형 104">
              <a:extLst>
                <a:ext uri="{FF2B5EF4-FFF2-40B4-BE49-F238E27FC236}">
                  <a16:creationId xmlns:a16="http://schemas.microsoft.com/office/drawing/2014/main" id="{AA89CF79-5F7A-6739-2186-A52FEFFF1059}"/>
                </a:ext>
              </a:extLst>
            </p:cNvPr>
            <p:cNvSpPr/>
            <p:nvPr/>
          </p:nvSpPr>
          <p:spPr>
            <a:xfrm>
              <a:off x="15613927" y="35967662"/>
              <a:ext cx="13231388" cy="34624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571500" indent="-571500" algn="just">
                <a:buFont typeface="Arial" panose="020B0604020202020204" pitchFamily="34" charset="0"/>
                <a:buChar char="•"/>
              </a:pPr>
              <a:r>
                <a:rPr lang="en-US" altLang="ko-KR" sz="3400" b="1" u="sng" dirty="0"/>
                <a:t>Dialogue quality sinks</a:t>
              </a:r>
              <a:r>
                <a:rPr lang="en-US" altLang="ko-KR" sz="3400" dirty="0"/>
                <a:t> with </a:t>
              </a:r>
              <a:r>
                <a:rPr lang="en-US" altLang="ko-KR" sz="3400" dirty="0">
                  <a:solidFill>
                    <a:srgbClr val="FF0000"/>
                  </a:solidFill>
                </a:rPr>
                <a:t>negative</a:t>
              </a:r>
              <a:r>
                <a:rPr lang="en-US" altLang="ko-KR" sz="3400" dirty="0"/>
                <a:t> or neutral personas, while </a:t>
              </a:r>
              <a:r>
                <a:rPr lang="en-US" altLang="ko-KR" sz="3400" dirty="0">
                  <a:solidFill>
                    <a:srgbClr val="0070C0"/>
                  </a:solidFill>
                </a:rPr>
                <a:t>positive</a:t>
              </a:r>
              <a:r>
                <a:rPr lang="en-US" altLang="ko-KR" sz="3400" dirty="0"/>
                <a:t> personas remain </a:t>
              </a:r>
              <a:r>
                <a:rPr lang="en-US" altLang="ko-KR" sz="3400" b="1" u="sng" dirty="0"/>
                <a:t>fluent and consistent</a:t>
              </a:r>
              <a:r>
                <a:rPr lang="en-US" altLang="ko-KR" sz="3400" dirty="0"/>
                <a:t>—making sentiment polarity pivotal.</a:t>
              </a:r>
            </a:p>
            <a:p>
              <a:pPr marL="571500" indent="-571500" algn="just">
                <a:buFont typeface="Arial" panose="020B0604020202020204" pitchFamily="34" charset="0"/>
                <a:buChar char="•"/>
              </a:pPr>
              <a:endParaRPr lang="en-US" altLang="ko-KR" sz="1500" dirty="0"/>
            </a:p>
            <a:p>
              <a:pPr marL="571500" indent="-571500" algn="just">
                <a:buFont typeface="Arial" panose="020B0604020202020204" pitchFamily="34" charset="0"/>
                <a:buChar char="•"/>
              </a:pPr>
              <a:r>
                <a:rPr lang="en-US" altLang="ko-KR" sz="3400" dirty="0"/>
                <a:t>A polarity‑aware, </a:t>
              </a:r>
              <a:r>
                <a:rPr lang="en-US" altLang="ko-KR" sz="3400" b="1" u="sng" dirty="0"/>
                <a:t>turn‑based strategy that orders and instructs</a:t>
              </a:r>
              <a:r>
                <a:rPr lang="en-US" altLang="ko-KR" sz="3400" dirty="0"/>
                <a:t> personas restores the coherence and consistency lost in conventional generation.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CD38BC6-AAF8-5A56-6EC4-20595824972D}"/>
              </a:ext>
            </a:extLst>
          </p:cNvPr>
          <p:cNvGrpSpPr/>
          <p:nvPr/>
        </p:nvGrpSpPr>
        <p:grpSpPr>
          <a:xfrm>
            <a:off x="15546376" y="6354590"/>
            <a:ext cx="14404405" cy="1070437"/>
            <a:chOff x="445835" y="6354590"/>
            <a:chExt cx="14404405" cy="1070437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75572DE-A3F1-8FCA-F75A-137E4C4EB108}"/>
                </a:ext>
              </a:extLst>
            </p:cNvPr>
            <p:cNvSpPr/>
            <p:nvPr/>
          </p:nvSpPr>
          <p:spPr>
            <a:xfrm>
              <a:off x="448640" y="6354590"/>
              <a:ext cx="14401600" cy="9838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5400" b="1" dirty="0">
                  <a:solidFill>
                    <a:schemeClr val="tx1"/>
                  </a:solidFill>
                  <a:latin typeface="Helvetica" panose="020B0500000000000000" pitchFamily="34" charset="0"/>
                  <a:ea typeface="아리따-부리(OTF)-Bold" panose="02020603020101020101" pitchFamily="18" charset="-127"/>
                  <a:cs typeface="Arial" pitchFamily="34" charset="0"/>
                </a:rPr>
                <a:t>How LLMs Sensitive to Polarity Level?</a:t>
              </a:r>
              <a:endParaRPr lang="ko-KR" altLang="en-US" sz="5400" b="1" dirty="0">
                <a:solidFill>
                  <a:schemeClr val="tx1"/>
                </a:solidFill>
                <a:latin typeface="Helvetica" panose="020B0500000000000000" pitchFamily="34" charset="0"/>
                <a:ea typeface="아리따-부리(OTF)-Bold" panose="02020603020101020101" pitchFamily="18" charset="-127"/>
                <a:cs typeface="Arial" pitchFamily="34" charset="0"/>
              </a:endParaRP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80525F9F-B63A-F043-80CA-EA17761C8934}"/>
                </a:ext>
              </a:extLst>
            </p:cNvPr>
            <p:cNvCxnSpPr/>
            <p:nvPr/>
          </p:nvCxnSpPr>
          <p:spPr>
            <a:xfrm>
              <a:off x="445835" y="7409997"/>
              <a:ext cx="13681520" cy="15030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02799FB9-F7A3-53F6-B110-2B5D280F12B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8761"/>
          <a:stretch>
            <a:fillRect/>
          </a:stretch>
        </p:blipFill>
        <p:spPr>
          <a:xfrm>
            <a:off x="15712621" y="27601582"/>
            <a:ext cx="7633179" cy="2119604"/>
          </a:xfrm>
          <a:prstGeom prst="rect">
            <a:avLst/>
          </a:prstGeom>
        </p:spPr>
      </p:pic>
      <p:sp>
        <p:nvSpPr>
          <p:cNvPr id="30" name="직사각형 104">
            <a:extLst>
              <a:ext uri="{FF2B5EF4-FFF2-40B4-BE49-F238E27FC236}">
                <a16:creationId xmlns:a16="http://schemas.microsoft.com/office/drawing/2014/main" id="{7D913817-8D3F-F3DC-BCBE-979DC8CE02CC}"/>
              </a:ext>
            </a:extLst>
          </p:cNvPr>
          <p:cNvSpPr/>
          <p:nvPr/>
        </p:nvSpPr>
        <p:spPr>
          <a:xfrm>
            <a:off x="23345800" y="28063548"/>
            <a:ext cx="5721114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kumimoji="0" lang="en-US" altLang="ko-KR" sz="3400" i="0" strike="noStrike" cap="none" normalizeH="0" baseline="0" dirty="0">
                <a:ln>
                  <a:noFill/>
                </a:ln>
                <a:effectLst/>
              </a:rPr>
              <a:t>Human evaluation results corroborate our findings.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kumimoji="0" lang="en-US" altLang="ko-KR" sz="15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A51E151-72F0-93E7-0023-4822F296B888}"/>
              </a:ext>
            </a:extLst>
          </p:cNvPr>
          <p:cNvGrpSpPr/>
          <p:nvPr/>
        </p:nvGrpSpPr>
        <p:grpSpPr>
          <a:xfrm>
            <a:off x="15013631" y="30388422"/>
            <a:ext cx="14823206" cy="6569568"/>
            <a:chOff x="15013631" y="30261246"/>
            <a:chExt cx="14823206" cy="6569568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B9DE560C-4E74-97E5-82EE-C3CFAF1B2B6C}"/>
                </a:ext>
              </a:extLst>
            </p:cNvPr>
            <p:cNvGrpSpPr/>
            <p:nvPr/>
          </p:nvGrpSpPr>
          <p:grpSpPr>
            <a:xfrm>
              <a:off x="15437448" y="30261246"/>
              <a:ext cx="14399389" cy="6569568"/>
              <a:chOff x="15437448" y="30198283"/>
              <a:chExt cx="14399389" cy="6569568"/>
            </a:xfrm>
          </p:grpSpPr>
          <p:grpSp>
            <p:nvGrpSpPr>
              <p:cNvPr id="34" name="그룹 63">
                <a:extLst>
                  <a:ext uri="{FF2B5EF4-FFF2-40B4-BE49-F238E27FC236}">
                    <a16:creationId xmlns:a16="http://schemas.microsoft.com/office/drawing/2014/main" id="{328DEA18-3C72-5B69-9605-6C853FC3C44C}"/>
                  </a:ext>
                </a:extLst>
              </p:cNvPr>
              <p:cNvGrpSpPr/>
              <p:nvPr/>
            </p:nvGrpSpPr>
            <p:grpSpPr>
              <a:xfrm>
                <a:off x="15587171" y="30198283"/>
                <a:ext cx="14200168" cy="1026392"/>
                <a:chOff x="15923169" y="9594950"/>
                <a:chExt cx="13690427" cy="1026392"/>
              </a:xfrm>
            </p:grpSpPr>
            <p:sp>
              <p:nvSpPr>
                <p:cNvPr id="36" name="직사각형 64">
                  <a:extLst>
                    <a:ext uri="{FF2B5EF4-FFF2-40B4-BE49-F238E27FC236}">
                      <a16:creationId xmlns:a16="http://schemas.microsoft.com/office/drawing/2014/main" id="{087CD140-67F4-7A4F-D7B8-A778A455307A}"/>
                    </a:ext>
                  </a:extLst>
                </p:cNvPr>
                <p:cNvSpPr/>
                <p:nvPr/>
              </p:nvSpPr>
              <p:spPr>
                <a:xfrm>
                  <a:off x="16037842" y="9594950"/>
                  <a:ext cx="13575754" cy="1026392"/>
                </a:xfrm>
                <a:prstGeom prst="rect">
                  <a:avLst/>
                </a:prstGeom>
                <a:solidFill>
                  <a:schemeClr val="bg1">
                    <a:alpha val="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ko-KR" sz="5400" b="1" dirty="0">
                      <a:solidFill>
                        <a:schemeClr val="tx1"/>
                      </a:solidFill>
                      <a:latin typeface="Helvetica" panose="020B0500000000000000" pitchFamily="34" charset="0"/>
                      <a:ea typeface="아리따-부리(OTF)-Bold" panose="02020603020101020101" pitchFamily="18" charset="-127"/>
                      <a:cs typeface="Arial" pitchFamily="34" charset="0"/>
                    </a:rPr>
                    <a:t>Why LLMs Sensitive to Polarity?</a:t>
                  </a:r>
                  <a:endParaRPr lang="ko-KR" altLang="en-US" sz="5400" b="1" dirty="0">
                    <a:solidFill>
                      <a:schemeClr val="tx1"/>
                    </a:solidFill>
                    <a:latin typeface="Helvetica" panose="020B0500000000000000" pitchFamily="34" charset="0"/>
                    <a:ea typeface="아리따-부리(OTF)-Bold" panose="02020603020101020101" pitchFamily="18" charset="-127"/>
                    <a:cs typeface="Arial" pitchFamily="34" charset="0"/>
                  </a:endParaRPr>
                </a:p>
              </p:txBody>
            </p:sp>
            <p:cxnSp>
              <p:nvCxnSpPr>
                <p:cNvPr id="37" name="직선 연결선 40">
                  <a:extLst>
                    <a:ext uri="{FF2B5EF4-FFF2-40B4-BE49-F238E27FC236}">
                      <a16:creationId xmlns:a16="http://schemas.microsoft.com/office/drawing/2014/main" id="{A82D5D79-4F76-964E-E696-28D31D5163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923169" y="10567058"/>
                  <a:ext cx="13151064" cy="18268"/>
                </a:xfrm>
                <a:prstGeom prst="line">
                  <a:avLst/>
                </a:prstGeom>
                <a:ln w="571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직사각형 104">
                <a:extLst>
                  <a:ext uri="{FF2B5EF4-FFF2-40B4-BE49-F238E27FC236}">
                    <a16:creationId xmlns:a16="http://schemas.microsoft.com/office/drawing/2014/main" id="{C29CF8A7-B3E7-1DA4-CC5A-924CA80FC96C}"/>
                  </a:ext>
                </a:extLst>
              </p:cNvPr>
              <p:cNvSpPr/>
              <p:nvPr/>
            </p:nvSpPr>
            <p:spPr>
              <a:xfrm>
                <a:off x="15437448" y="35418863"/>
                <a:ext cx="13629466" cy="615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ko-KR" sz="3400" b="1" u="sng" dirty="0"/>
                  <a:t>S</a:t>
                </a:r>
                <a:r>
                  <a:rPr kumimoji="0" lang="en-US" altLang="ko-KR" sz="3400" b="1" i="0" u="sng" strike="noStrike" cap="none" normalizeH="0" baseline="0" dirty="0">
                    <a:ln>
                      <a:noFill/>
                    </a:ln>
                    <a:effectLst/>
                  </a:rPr>
                  <a:t>carcity of </a:t>
                </a:r>
                <a:r>
                  <a:rPr kumimoji="0" lang="en-US" altLang="ko-KR" sz="3400" b="1" i="0" u="sng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negative</a:t>
                </a:r>
                <a:r>
                  <a:rPr kumimoji="0" lang="en-US" altLang="ko-KR" sz="3400" i="0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 </a:t>
                </a:r>
                <a:r>
                  <a:rPr kumimoji="0" lang="en-US" altLang="ko-KR" sz="3400" b="1" i="0" u="sng" strike="noStrike" cap="none" normalizeH="0" baseline="0" dirty="0">
                    <a:ln>
                      <a:noFill/>
                    </a:ln>
                    <a:effectLst/>
                  </a:rPr>
                  <a:t>expressions</a:t>
                </a:r>
                <a:r>
                  <a:rPr kumimoji="0" lang="en-US" altLang="ko-KR" sz="3400" i="0" strike="noStrike" cap="none" normalizeH="0" baseline="0" dirty="0">
                    <a:ln>
                      <a:noFill/>
                    </a:ln>
                    <a:effectLst/>
                  </a:rPr>
                  <a:t> in the pretraining data</a:t>
                </a:r>
              </a:p>
            </p:txBody>
          </p:sp>
          <p:pic>
            <p:nvPicPr>
              <p:cNvPr id="62" name="그림 61">
                <a:extLst>
                  <a:ext uri="{FF2B5EF4-FFF2-40B4-BE49-F238E27FC236}">
                    <a16:creationId xmlns:a16="http://schemas.microsoft.com/office/drawing/2014/main" id="{8097BCEA-AA42-9D37-AA9D-E6186CBB75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441801" y="31869895"/>
                <a:ext cx="5819281" cy="2667752"/>
              </a:xfrm>
              <a:prstGeom prst="rect">
                <a:avLst/>
              </a:prstGeom>
            </p:spPr>
          </p:pic>
          <p:sp>
            <p:nvSpPr>
              <p:cNvPr id="75" name="직사각형 104">
                <a:extLst>
                  <a:ext uri="{FF2B5EF4-FFF2-40B4-BE49-F238E27FC236}">
                    <a16:creationId xmlns:a16="http://schemas.microsoft.com/office/drawing/2014/main" id="{4D82EA38-BD70-C4F2-2E84-29BF2F79E8D0}"/>
                  </a:ext>
                </a:extLst>
              </p:cNvPr>
              <p:cNvSpPr/>
              <p:nvPr/>
            </p:nvSpPr>
            <p:spPr>
              <a:xfrm>
                <a:off x="15448198" y="36152298"/>
                <a:ext cx="14388639" cy="615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ko-KR" sz="3400" b="1" u="sng" dirty="0"/>
                  <a:t>Post-training</a:t>
                </a:r>
                <a:r>
                  <a:rPr lang="en-US" altLang="ko-KR" sz="3400" dirty="0"/>
                  <a:t> practices bias toward </a:t>
                </a:r>
                <a:r>
                  <a:rPr lang="en-US" altLang="ko-KR" sz="3400" b="1" u="sng" dirty="0"/>
                  <a:t>positive outputs</a:t>
                </a:r>
                <a:r>
                  <a:rPr lang="en-US" altLang="ko-KR" sz="3400" dirty="0"/>
                  <a:t>, leads confusion</a:t>
                </a:r>
              </a:p>
            </p:txBody>
          </p:sp>
        </p:grpSp>
        <p:pic>
          <p:nvPicPr>
            <p:cNvPr id="83" name="그림 82">
              <a:extLst>
                <a:ext uri="{FF2B5EF4-FFF2-40B4-BE49-F238E27FC236}">
                  <a16:creationId xmlns:a16="http://schemas.microsoft.com/office/drawing/2014/main" id="{33AF6D11-FCC7-842B-0F6D-6A14CCFE1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013631" y="31868852"/>
              <a:ext cx="8428170" cy="2955157"/>
            </a:xfrm>
            <a:prstGeom prst="rect">
              <a:avLst/>
            </a:prstGeom>
          </p:spPr>
        </p:pic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9B0B9A22-8ACD-F2CD-59D0-4FC30CBB2536}"/>
              </a:ext>
            </a:extLst>
          </p:cNvPr>
          <p:cNvGrpSpPr/>
          <p:nvPr/>
        </p:nvGrpSpPr>
        <p:grpSpPr>
          <a:xfrm>
            <a:off x="443137" y="26192794"/>
            <a:ext cx="14367476" cy="15951519"/>
            <a:chOff x="443137" y="25940766"/>
            <a:chExt cx="14367476" cy="1595151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2F4C61D5-87F8-1452-1BA7-660170337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10829"/>
            <a:stretch>
              <a:fillRect/>
            </a:stretch>
          </p:blipFill>
          <p:spPr>
            <a:xfrm>
              <a:off x="1067207" y="39371720"/>
              <a:ext cx="7075879" cy="2520565"/>
            </a:xfrm>
            <a:prstGeom prst="rect">
              <a:avLst/>
            </a:prstGeom>
          </p:spPr>
        </p:pic>
        <p:sp>
          <p:nvSpPr>
            <p:cNvPr id="29" name="직사각형 104">
              <a:extLst>
                <a:ext uri="{FF2B5EF4-FFF2-40B4-BE49-F238E27FC236}">
                  <a16:creationId xmlns:a16="http://schemas.microsoft.com/office/drawing/2014/main" id="{8F55569C-C13D-D3FB-2EA3-5FBBCC7EA90B}"/>
                </a:ext>
              </a:extLst>
            </p:cNvPr>
            <p:cNvSpPr/>
            <p:nvPr/>
          </p:nvSpPr>
          <p:spPr>
            <a:xfrm>
              <a:off x="8267478" y="39840057"/>
              <a:ext cx="5912012" cy="13696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endParaRPr lang="en-US" altLang="ko-KR" sz="1500" dirty="0"/>
            </a:p>
            <a:p>
              <a:pPr marL="571500" indent="-571500" algn="just">
                <a:buFont typeface="Arial" panose="020B0604020202020204" pitchFamily="34" charset="0"/>
                <a:buChar char="•"/>
              </a:pPr>
              <a:r>
                <a:rPr lang="en-US" altLang="ko-KR" sz="3400" dirty="0"/>
                <a:t>Human evaluation results corroborate our findings.</a:t>
              </a:r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895DD062-008C-668E-980D-BD7E71C81B06}"/>
                </a:ext>
              </a:extLst>
            </p:cNvPr>
            <p:cNvGrpSpPr/>
            <p:nvPr/>
          </p:nvGrpSpPr>
          <p:grpSpPr>
            <a:xfrm>
              <a:off x="443137" y="25940766"/>
              <a:ext cx="14367476" cy="12891179"/>
              <a:chOff x="443137" y="28819054"/>
              <a:chExt cx="14367476" cy="12891179"/>
            </a:xfrm>
          </p:grpSpPr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F2A8155E-E098-7E8E-7284-CFE8E2B6016D}"/>
                  </a:ext>
                </a:extLst>
              </p:cNvPr>
              <p:cNvGrpSpPr/>
              <p:nvPr/>
            </p:nvGrpSpPr>
            <p:grpSpPr>
              <a:xfrm>
                <a:off x="443137" y="28819054"/>
                <a:ext cx="14367476" cy="12891179"/>
                <a:chOff x="570348" y="27813098"/>
                <a:chExt cx="14367476" cy="12891179"/>
              </a:xfrm>
            </p:grpSpPr>
            <p:sp>
              <p:nvSpPr>
                <p:cNvPr id="38" name="직사각형 104">
                  <a:extLst>
                    <a:ext uri="{FF2B5EF4-FFF2-40B4-BE49-F238E27FC236}">
                      <a16:creationId xmlns:a16="http://schemas.microsoft.com/office/drawing/2014/main" id="{4936D2C9-617B-482D-851D-284D68D3F071}"/>
                    </a:ext>
                  </a:extLst>
                </p:cNvPr>
                <p:cNvSpPr/>
                <p:nvPr/>
              </p:nvSpPr>
              <p:spPr>
                <a:xfrm>
                  <a:off x="570348" y="37534178"/>
                  <a:ext cx="13845889" cy="31700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/>
                  <a:endParaRPr lang="en-US" altLang="ko-KR" sz="1500" dirty="0"/>
                </a:p>
                <a:p>
                  <a:pPr marL="571500" indent="-571500" algn="just">
                    <a:buFont typeface="Arial" panose="020B0604020202020204" pitchFamily="34" charset="0"/>
                    <a:buChar char="•"/>
                  </a:pPr>
                  <a:r>
                    <a:rPr lang="en-US" altLang="ko-KR" sz="3400" b="1" u="sng" dirty="0">
                      <a:solidFill>
                        <a:srgbClr val="0070C0"/>
                      </a:solidFill>
                    </a:rPr>
                    <a:t>Positive–positive pairings yield persona‑rich, coherent dialogues</a:t>
                  </a:r>
                  <a:r>
                    <a:rPr lang="en-US" altLang="ko-KR" sz="3400" dirty="0"/>
                    <a:t>, whereas </a:t>
                  </a:r>
                  <a:r>
                    <a:rPr lang="en-US" altLang="ko-KR" sz="3400" b="1" u="sng" dirty="0">
                      <a:solidFill>
                        <a:srgbClr val="FF0000"/>
                      </a:solidFill>
                    </a:rPr>
                    <a:t>negative–negative pairings cause contradictions</a:t>
                  </a:r>
                  <a:r>
                    <a:rPr lang="en-US" altLang="ko-KR" sz="3400" dirty="0"/>
                    <a:t>; </a:t>
                  </a:r>
                  <a:r>
                    <a:rPr lang="en-US" altLang="ko-KR" sz="3400" b="1" u="sng" dirty="0">
                      <a:solidFill>
                        <a:srgbClr val="7030A0"/>
                      </a:solidFill>
                    </a:rPr>
                    <a:t>mixed pairings sit midway</a:t>
                  </a:r>
                  <a:r>
                    <a:rPr lang="en-US" altLang="ko-KR" sz="3400" dirty="0"/>
                    <a:t>.</a:t>
                  </a:r>
                </a:p>
                <a:p>
                  <a:pPr marL="571500" indent="-571500" algn="just">
                    <a:buFont typeface="Arial" panose="020B0604020202020204" pitchFamily="34" charset="0"/>
                    <a:buChar char="•"/>
                  </a:pPr>
                  <a:endParaRPr lang="en-US" altLang="ko-KR" sz="1500" dirty="0"/>
                </a:p>
                <a:p>
                  <a:pPr marL="571500" indent="-571500" algn="just">
                    <a:buFont typeface="Arial" panose="020B0604020202020204" pitchFamily="34" charset="0"/>
                    <a:buChar char="•"/>
                  </a:pPr>
                  <a:r>
                    <a:rPr lang="en-US" altLang="ko-KR" sz="3400" dirty="0"/>
                    <a:t>Original and opposite‑polarity pairings underperform, claiming the </a:t>
                  </a:r>
                  <a:r>
                    <a:rPr lang="en-US" altLang="ko-KR" sz="3400" b="1" u="sng" dirty="0"/>
                    <a:t>need for sentiment‑aware profile tuning</a:t>
                  </a:r>
                  <a:r>
                    <a:rPr lang="en-US" altLang="ko-KR" sz="3400" dirty="0"/>
                    <a:t>.</a:t>
                  </a:r>
                </a:p>
              </p:txBody>
            </p:sp>
            <p:grpSp>
              <p:nvGrpSpPr>
                <p:cNvPr id="40" name="그룹 63">
                  <a:extLst>
                    <a:ext uri="{FF2B5EF4-FFF2-40B4-BE49-F238E27FC236}">
                      <a16:creationId xmlns:a16="http://schemas.microsoft.com/office/drawing/2014/main" id="{A207EB4E-6EB4-432F-F432-664DB086E0B9}"/>
                    </a:ext>
                  </a:extLst>
                </p:cNvPr>
                <p:cNvGrpSpPr/>
                <p:nvPr/>
              </p:nvGrpSpPr>
              <p:grpSpPr>
                <a:xfrm>
                  <a:off x="720445" y="27813098"/>
                  <a:ext cx="14217379" cy="1026392"/>
                  <a:chOff x="15923169" y="9262103"/>
                  <a:chExt cx="13690426" cy="1026392"/>
                </a:xfrm>
              </p:grpSpPr>
              <p:sp>
                <p:nvSpPr>
                  <p:cNvPr id="42" name="직사각형 64">
                    <a:extLst>
                      <a:ext uri="{FF2B5EF4-FFF2-40B4-BE49-F238E27FC236}">
                        <a16:creationId xmlns:a16="http://schemas.microsoft.com/office/drawing/2014/main" id="{AA46A100-2FCF-63D4-D654-3A4261C2AEC2}"/>
                      </a:ext>
                    </a:extLst>
                  </p:cNvPr>
                  <p:cNvSpPr/>
                  <p:nvPr/>
                </p:nvSpPr>
                <p:spPr>
                  <a:xfrm>
                    <a:off x="16037841" y="9262103"/>
                    <a:ext cx="13575754" cy="1026392"/>
                  </a:xfrm>
                  <a:prstGeom prst="rect">
                    <a:avLst/>
                  </a:prstGeom>
                  <a:solidFill>
                    <a:schemeClr val="bg1">
                      <a:alpha val="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ko-KR" sz="5400" b="1" dirty="0">
                        <a:solidFill>
                          <a:schemeClr val="tx1"/>
                        </a:solidFill>
                        <a:latin typeface="Helvetica" panose="020B0500000000000000" pitchFamily="34" charset="0"/>
                        <a:ea typeface="아리따-부리(OTF)-Bold" panose="02020603020101020101" pitchFamily="18" charset="-127"/>
                        <a:cs typeface="Arial" pitchFamily="34" charset="0"/>
                      </a:rPr>
                      <a:t>Are LLMs Sensitive to Users’ Polarity?</a:t>
                    </a:r>
                    <a:endParaRPr lang="ko-KR" altLang="en-US" sz="5400" b="1" dirty="0">
                      <a:solidFill>
                        <a:schemeClr val="tx1"/>
                      </a:solidFill>
                      <a:latin typeface="Helvetica" panose="020B0500000000000000" pitchFamily="34" charset="0"/>
                      <a:ea typeface="아리따-부리(OTF)-Bold" panose="02020603020101020101" pitchFamily="18" charset="-127"/>
                      <a:cs typeface="Arial" pitchFamily="34" charset="0"/>
                    </a:endParaRPr>
                  </a:p>
                </p:txBody>
              </p:sp>
              <p:cxnSp>
                <p:nvCxnSpPr>
                  <p:cNvPr id="45" name="직선 연결선 40">
                    <a:extLst>
                      <a:ext uri="{FF2B5EF4-FFF2-40B4-BE49-F238E27FC236}">
                        <a16:creationId xmlns:a16="http://schemas.microsoft.com/office/drawing/2014/main" id="{9A8C63EB-308F-3FC6-5743-C07749AD91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5923169" y="10242785"/>
                    <a:ext cx="13082695" cy="18173"/>
                  </a:xfrm>
                  <a:prstGeom prst="line">
                    <a:avLst/>
                  </a:prstGeom>
                  <a:ln w="571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85" name="그림 84">
                <a:extLst>
                  <a:ext uri="{FF2B5EF4-FFF2-40B4-BE49-F238E27FC236}">
                    <a16:creationId xmlns:a16="http://schemas.microsoft.com/office/drawing/2014/main" id="{C1C003C9-3263-1288-C41A-4B628EE092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t="2397" b="1548"/>
              <a:stretch>
                <a:fillRect/>
              </a:stretch>
            </p:blipFill>
            <p:spPr>
              <a:xfrm>
                <a:off x="928398" y="30168013"/>
                <a:ext cx="12948663" cy="8192101"/>
              </a:xfrm>
              <a:prstGeom prst="rect">
                <a:avLst/>
              </a:prstGeom>
            </p:spPr>
          </p:pic>
        </p:grp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2E5DB85C-4135-6791-7D4A-B6A64C177584}"/>
              </a:ext>
            </a:extLst>
          </p:cNvPr>
          <p:cNvGrpSpPr/>
          <p:nvPr/>
        </p:nvGrpSpPr>
        <p:grpSpPr>
          <a:xfrm>
            <a:off x="7761466" y="4158346"/>
            <a:ext cx="10825901" cy="2052229"/>
            <a:chOff x="7761466" y="4158346"/>
            <a:chExt cx="10825901" cy="2052229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D59CC851-645E-4D0E-392A-804AAC467CDE}"/>
                </a:ext>
              </a:extLst>
            </p:cNvPr>
            <p:cNvGrpSpPr/>
            <p:nvPr/>
          </p:nvGrpSpPr>
          <p:grpSpPr>
            <a:xfrm>
              <a:off x="13969280" y="4158346"/>
              <a:ext cx="4618087" cy="2052229"/>
              <a:chOff x="13969280" y="5166458"/>
              <a:chExt cx="4618087" cy="2052229"/>
            </a:xfrm>
          </p:grpSpPr>
          <p:pic>
            <p:nvPicPr>
              <p:cNvPr id="25" name="그림 13" descr="C:/Users/user/AppData/Roaming/PolarisOffice/ETemp/9620_23735888/image1.png">
                <a:extLst>
                  <a:ext uri="{FF2B5EF4-FFF2-40B4-BE49-F238E27FC236}">
                    <a16:creationId xmlns:a16="http://schemas.microsoft.com/office/drawing/2014/main" id="{E52F0162-04F7-9E3D-C643-FE06C5EC9E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3969280" y="5166458"/>
                <a:ext cx="2052229" cy="2052229"/>
              </a:xfrm>
              <a:prstGeom prst="rect">
                <a:avLst/>
              </a:prstGeom>
              <a:noFill/>
            </p:spPr>
          </p:pic>
          <p:pic>
            <p:nvPicPr>
              <p:cNvPr id="26" name="그림 27" descr="그래픽, 달이(가) 표시된 사진&#10;&#10;자동 생성된 설명">
                <a:extLst>
                  <a:ext uri="{FF2B5EF4-FFF2-40B4-BE49-F238E27FC236}">
                    <a16:creationId xmlns:a16="http://schemas.microsoft.com/office/drawing/2014/main" id="{D9028F0E-D5A8-1B3C-B1D4-B81060794E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740279" y="5202462"/>
                <a:ext cx="1847088" cy="1853903"/>
              </a:xfrm>
              <a:prstGeom prst="rect">
                <a:avLst/>
              </a:prstGeom>
            </p:spPr>
          </p:pic>
        </p:grp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906FF6E3-B99C-B7F5-B7D9-6FD4313FE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761466" y="4338075"/>
              <a:ext cx="5484733" cy="1561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3750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6">
      <a:majorFont>
        <a:latin typeface="Helvetica"/>
        <a:ea typeface="맑은 고딕"/>
        <a:cs typeface=""/>
      </a:majorFont>
      <a:minorFont>
        <a:latin typeface="Helvetic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3908754369C4A4694B3D2779457A6BE" ma:contentTypeVersion="12" ma:contentTypeDescription="새 문서를 만듭니다." ma:contentTypeScope="" ma:versionID="a84c1093fdd32c5793bd418cf2378b66">
  <xsd:schema xmlns:xsd="http://www.w3.org/2001/XMLSchema" xmlns:xs="http://www.w3.org/2001/XMLSchema" xmlns:p="http://schemas.microsoft.com/office/2006/metadata/properties" xmlns:ns3="a42185cf-9908-4584-8624-9a5eb26fc0b5" xmlns:ns4="c1060163-715a-43b0-b1ad-b4f06a70d354" targetNamespace="http://schemas.microsoft.com/office/2006/metadata/properties" ma:root="true" ma:fieldsID="417654bc6b357da1c095b2514ac55c78" ns3:_="" ns4:_="">
    <xsd:import namespace="a42185cf-9908-4584-8624-9a5eb26fc0b5"/>
    <xsd:import namespace="c1060163-715a-43b0-b1ad-b4f06a70d35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2185cf-9908-4584-8624-9a5eb26fc0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060163-715a-43b0-b1ad-b4f06a70d35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64B319-4C83-4AE7-8EC4-9A97318EF3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2185cf-9908-4584-8624-9a5eb26fc0b5"/>
    <ds:schemaRef ds:uri="c1060163-715a-43b0-b1ad-b4f06a70d3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8C0D1B-B200-4861-899B-C1C38E902C2A}">
  <ds:schemaRefs>
    <ds:schemaRef ds:uri="http://purl.org/dc/dcmitype/"/>
    <ds:schemaRef ds:uri="http://www.w3.org/XML/1998/namespace"/>
    <ds:schemaRef ds:uri="a42185cf-9908-4584-8624-9a5eb26fc0b5"/>
    <ds:schemaRef ds:uri="http://purl.org/dc/terms/"/>
    <ds:schemaRef ds:uri="http://schemas.microsoft.com/office/infopath/2007/PartnerControls"/>
    <ds:schemaRef ds:uri="c1060163-715a-43b0-b1ad-b4f06a70d354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AFCD2F9-DDDE-4E05-AEBC-994E4E0435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14164</TotalTime>
  <Words>409</Words>
  <Application>Microsoft Office PowerPoint</Application>
  <PresentationFormat>사용자 지정</PresentationFormat>
  <Paragraphs>50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Arial</vt:lpstr>
      <vt:lpstr>맑은 고딕</vt:lpstr>
      <vt:lpstr>Wingdings</vt:lpstr>
      <vt:lpstr>Helvetica</vt:lpstr>
      <vt:lpstr>Office 테마</vt:lpstr>
      <vt:lpstr>PowerPoint 프레젠테이션</vt:lpstr>
    </vt:vector>
  </TitlesOfParts>
  <Company>KAIST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박건우</dc:creator>
  <cp:lastModifiedBy>전용현</cp:lastModifiedBy>
  <cp:revision>436</cp:revision>
  <cp:lastPrinted>2016-05-26T14:02:28Z</cp:lastPrinted>
  <dcterms:created xsi:type="dcterms:W3CDTF">2009-11-25T07:46:39Z</dcterms:created>
  <dcterms:modified xsi:type="dcterms:W3CDTF">2025-10-03T07:13:34Z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0x01010043908754369C4A4694B3D2779457A6BE</vt:lpwstr>
  </property>
</Properties>
</file>